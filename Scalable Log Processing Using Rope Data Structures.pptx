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微软雅黑" panose="020B0503020204020204" pitchFamily="34" charset="-122"/>
      <p:regular r:id="rId12"/>
      <p:bold r:id="rId13"/>
    </p:embeddedFont>
    <p:embeddedFont>
      <p:font typeface="Hedvig Letters Sans" panose="020B0604020202020204" charset="0"/>
      <p:regular r:id="rId14"/>
    </p:embeddedFont>
    <p:embeddedFont>
      <p:font typeface="Liter" panose="020B0604020202020204" charset="0"/>
      <p:regular r:id="rId15"/>
    </p:embeddedFont>
    <p:embeddedFont>
      <p:font typeface="Quattrocento Sans" panose="020B0502050000020003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44" y="-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40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54858cd4b871d0baec4e2899202cb91bd13617e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4DB6A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996950"/>
            <a:ext cx="3730625" cy="387350"/>
          </a:xfrm>
          <a:custGeom>
            <a:avLst/>
            <a:gdLst/>
            <a:ahLst/>
            <a:cxnLst/>
            <a:rect l="l" t="t" r="r" b="b"/>
            <a:pathLst>
              <a:path w="3730625" h="387350">
                <a:moveTo>
                  <a:pt x="76199" y="0"/>
                </a:moveTo>
                <a:lnTo>
                  <a:pt x="3654426" y="0"/>
                </a:lnTo>
                <a:cubicBezTo>
                  <a:pt x="3696509" y="0"/>
                  <a:pt x="3730625" y="34116"/>
                  <a:pt x="3730625" y="76199"/>
                </a:cubicBezTo>
                <a:lnTo>
                  <a:pt x="3730625" y="311151"/>
                </a:lnTo>
                <a:cubicBezTo>
                  <a:pt x="3730625" y="353234"/>
                  <a:pt x="3696509" y="387350"/>
                  <a:pt x="3654426" y="387350"/>
                </a:cubicBezTo>
                <a:lnTo>
                  <a:pt x="76199" y="387350"/>
                </a:lnTo>
                <a:cubicBezTo>
                  <a:pt x="34144" y="387350"/>
                  <a:pt x="0" y="353206"/>
                  <a:pt x="0" y="3111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750" y="1108075"/>
            <a:ext cx="3492401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SYSTEM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16075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Scalable Log Processing and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Forensic Archiving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2734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54012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Rope Data Structures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4813" y="4244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Text 7"/>
          <p:cNvSpPr/>
          <p:nvPr/>
        </p:nvSpPr>
        <p:spPr>
          <a:xfrm>
            <a:off x="709613" y="4187825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High-Performance Log Viewer for Large-Scale System Logs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4813" y="4625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709613" y="4568825"/>
            <a:ext cx="475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Efficient Processing of Massive Log Streams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4813" y="5006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1"/>
          <p:cNvSpPr/>
          <p:nvPr/>
        </p:nvSpPr>
        <p:spPr>
          <a:xfrm>
            <a:off x="709613" y="4949825"/>
            <a:ext cx="594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using Rope Data Structures and Tree-Based Memory Management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5829300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6134100"/>
            <a:ext cx="171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OM3N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018933" y="5867400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systems generate millions of log entries per day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18933" y="6210300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log handling requires data structures designed for scale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IDENTIFICATION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477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1430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 of Traditional String-Based Log 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2035175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3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203517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22567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2950" y="235902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50378"/>
                </a:lnTo>
                <a:cubicBezTo>
                  <a:pt x="0" y="52908"/>
                  <a:pt x="1637" y="55066"/>
                  <a:pt x="3758" y="56443"/>
                </a:cubicBezTo>
                <a:cubicBezTo>
                  <a:pt x="8669" y="59643"/>
                  <a:pt x="11906" y="65150"/>
                  <a:pt x="11906" y="71438"/>
                </a:cubicBezTo>
                <a:cubicBezTo>
                  <a:pt x="11906" y="77725"/>
                  <a:pt x="8669" y="83232"/>
                  <a:pt x="3758" y="86432"/>
                </a:cubicBezTo>
                <a:cubicBezTo>
                  <a:pt x="1637" y="87809"/>
                  <a:pt x="0" y="89967"/>
                  <a:pt x="0" y="92497"/>
                </a:cubicBezTo>
                <a:lnTo>
                  <a:pt x="0" y="113109"/>
                </a:lnTo>
                <a:lnTo>
                  <a:pt x="190500" y="113109"/>
                </a:lnTo>
                <a:lnTo>
                  <a:pt x="190500" y="92497"/>
                </a:lnTo>
                <a:cubicBezTo>
                  <a:pt x="190500" y="89967"/>
                  <a:pt x="188863" y="87809"/>
                  <a:pt x="186742" y="86432"/>
                </a:cubicBezTo>
                <a:cubicBezTo>
                  <a:pt x="181831" y="83232"/>
                  <a:pt x="178594" y="77725"/>
                  <a:pt x="178594" y="71438"/>
                </a:cubicBezTo>
                <a:cubicBezTo>
                  <a:pt x="178594" y="65150"/>
                  <a:pt x="181831" y="59643"/>
                  <a:pt x="186742" y="56443"/>
                </a:cubicBezTo>
                <a:cubicBezTo>
                  <a:pt x="188863" y="55066"/>
                  <a:pt x="190500" y="52908"/>
                  <a:pt x="190500" y="50378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90500" y="154781"/>
                </a:moveTo>
                <a:lnTo>
                  <a:pt x="190500" y="130969"/>
                </a:lnTo>
                <a:lnTo>
                  <a:pt x="0" y="130969"/>
                </a:lnTo>
                <a:lnTo>
                  <a:pt x="0" y="154781"/>
                </a:lnTo>
                <a:cubicBezTo>
                  <a:pt x="0" y="161367"/>
                  <a:pt x="5321" y="166688"/>
                  <a:pt x="11906" y="166688"/>
                </a:cubicBezTo>
                <a:lnTo>
                  <a:pt x="35719" y="166688"/>
                </a:lnTo>
                <a:lnTo>
                  <a:pt x="35719" y="157758"/>
                </a:lnTo>
                <a:cubicBezTo>
                  <a:pt x="35719" y="152809"/>
                  <a:pt x="39700" y="148828"/>
                  <a:pt x="44648" y="148828"/>
                </a:cubicBezTo>
                <a:cubicBezTo>
                  <a:pt x="49597" y="148828"/>
                  <a:pt x="53578" y="152809"/>
                  <a:pt x="53578" y="157758"/>
                </a:cubicBezTo>
                <a:lnTo>
                  <a:pt x="53578" y="166688"/>
                </a:lnTo>
                <a:lnTo>
                  <a:pt x="86320" y="166688"/>
                </a:lnTo>
                <a:lnTo>
                  <a:pt x="86320" y="157758"/>
                </a:lnTo>
                <a:cubicBezTo>
                  <a:pt x="86320" y="152809"/>
                  <a:pt x="90301" y="148828"/>
                  <a:pt x="95250" y="148828"/>
                </a:cubicBezTo>
                <a:cubicBezTo>
                  <a:pt x="100199" y="148828"/>
                  <a:pt x="104180" y="152809"/>
                  <a:pt x="104180" y="157758"/>
                </a:cubicBezTo>
                <a:lnTo>
                  <a:pt x="104180" y="166688"/>
                </a:lnTo>
                <a:lnTo>
                  <a:pt x="136922" y="166688"/>
                </a:lnTo>
                <a:lnTo>
                  <a:pt x="136922" y="157758"/>
                </a:lnTo>
                <a:cubicBezTo>
                  <a:pt x="136922" y="152809"/>
                  <a:pt x="140903" y="148828"/>
                  <a:pt x="145852" y="148828"/>
                </a:cubicBezTo>
                <a:cubicBezTo>
                  <a:pt x="150800" y="148828"/>
                  <a:pt x="154781" y="152809"/>
                  <a:pt x="154781" y="157758"/>
                </a:cubicBezTo>
                <a:lnTo>
                  <a:pt x="154781" y="166688"/>
                </a:ln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lose/>
                <a:moveTo>
                  <a:pt x="59531" y="59531"/>
                </a:moveTo>
                <a:lnTo>
                  <a:pt x="59531" y="83344"/>
                </a:lnTo>
                <a:cubicBezTo>
                  <a:pt x="59531" y="89929"/>
                  <a:pt x="54211" y="95250"/>
                  <a:pt x="47625" y="95250"/>
                </a:cubicBezTo>
                <a:cubicBezTo>
                  <a:pt x="41039" y="95250"/>
                  <a:pt x="35719" y="89929"/>
                  <a:pt x="35719" y="83344"/>
                </a:cubicBezTo>
                <a:lnTo>
                  <a:pt x="35719" y="59531"/>
                </a:lnTo>
                <a:cubicBezTo>
                  <a:pt x="35719" y="52946"/>
                  <a:pt x="41039" y="47625"/>
                  <a:pt x="47625" y="47625"/>
                </a:cubicBezTo>
                <a:cubicBezTo>
                  <a:pt x="54211" y="47625"/>
                  <a:pt x="59531" y="52946"/>
                  <a:pt x="59531" y="59531"/>
                </a:cubicBezTo>
                <a:close/>
                <a:moveTo>
                  <a:pt x="107156" y="59531"/>
                </a:moveTo>
                <a:lnTo>
                  <a:pt x="107156" y="83344"/>
                </a:lnTo>
                <a:cubicBezTo>
                  <a:pt x="107156" y="89929"/>
                  <a:pt x="101836" y="95250"/>
                  <a:pt x="95250" y="95250"/>
                </a:cubicBezTo>
                <a:cubicBezTo>
                  <a:pt x="88664" y="95250"/>
                  <a:pt x="83344" y="89929"/>
                  <a:pt x="83344" y="83344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54781" y="59531"/>
                </a:moveTo>
                <a:lnTo>
                  <a:pt x="154781" y="83344"/>
                </a:lnTo>
                <a:cubicBezTo>
                  <a:pt x="154781" y="89929"/>
                  <a:pt x="149461" y="95250"/>
                  <a:pt x="142875" y="95250"/>
                </a:cubicBezTo>
                <a:cubicBezTo>
                  <a:pt x="136289" y="95250"/>
                  <a:pt x="130969" y="89929"/>
                  <a:pt x="130969" y="83344"/>
                </a:cubicBezTo>
                <a:lnTo>
                  <a:pt x="130969" y="59531"/>
                </a:lnTo>
                <a:cubicBezTo>
                  <a:pt x="130969" y="52946"/>
                  <a:pt x="136289" y="47625"/>
                  <a:pt x="142875" y="47625"/>
                </a:cubicBezTo>
                <a:cubicBezTo>
                  <a:pt x="149461" y="47625"/>
                  <a:pt x="154781" y="52946"/>
                  <a:pt x="154781" y="5953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222567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Contiguous Memory Blocks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2568576"/>
            <a:ext cx="461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 strings store logs in contiguous memory blocks, creating rigid allocation patterns that limit scalability.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44876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444876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63537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42950" y="376872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363537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Repeated Memory Reallocations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" y="3978276"/>
            <a:ext cx="461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log files require repeated memory reallocations, causing significant performance overhead during growth.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4854576"/>
            <a:ext cx="5543550" cy="1228725"/>
          </a:xfrm>
          <a:custGeom>
            <a:avLst/>
            <a:gdLst/>
            <a:ahLst/>
            <a:cxnLst/>
            <a:rect l="l" t="t" r="r" b="b"/>
            <a:pathLst>
              <a:path w="5543550" h="1228725">
                <a:moveTo>
                  <a:pt x="0" y="0"/>
                </a:moveTo>
                <a:lnTo>
                  <a:pt x="5467344" y="0"/>
                </a:lnTo>
                <a:cubicBezTo>
                  <a:pt x="5509432" y="0"/>
                  <a:pt x="5543550" y="34118"/>
                  <a:pt x="5543550" y="76206"/>
                </a:cubicBezTo>
                <a:lnTo>
                  <a:pt x="5543550" y="1152519"/>
                </a:lnTo>
                <a:cubicBezTo>
                  <a:pt x="5543550" y="1194607"/>
                  <a:pt x="5509432" y="1228725"/>
                  <a:pt x="5467344" y="1228725"/>
                </a:cubicBezTo>
                <a:lnTo>
                  <a:pt x="0" y="1228725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4854576"/>
            <a:ext cx="38100" cy="1228725"/>
          </a:xfrm>
          <a:custGeom>
            <a:avLst/>
            <a:gdLst/>
            <a:ahLst/>
            <a:cxnLst/>
            <a:rect l="l" t="t" r="r" b="b"/>
            <a:pathLst>
              <a:path w="38100" h="1228725">
                <a:moveTo>
                  <a:pt x="0" y="0"/>
                </a:moveTo>
                <a:lnTo>
                  <a:pt x="38100" y="0"/>
                </a:lnTo>
                <a:lnTo>
                  <a:pt x="38100" y="1228725"/>
                </a:lnTo>
                <a:lnTo>
                  <a:pt x="0" y="1228725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504507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2950" y="517842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2" name="Text 20"/>
          <p:cNvSpPr/>
          <p:nvPr/>
        </p:nvSpPr>
        <p:spPr>
          <a:xfrm>
            <a:off x="1219200" y="504507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O(N) Time Complexity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9200" y="5387976"/>
            <a:ext cx="46101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Editing operations cause </a:t>
            </a:r>
            <a:r>
              <a:rPr lang="en-US" sz="1200" dirty="0">
                <a:solidFill>
                  <a:srgbClr val="FFCA28"/>
                </a:solidFill>
                <a:highlight>
                  <a:srgbClr val="FFCA28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O(N) </a:t>
            </a: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complexity, making each operation increasingly slower as log volume grows.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7450" y="19558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67450" y="1955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7000" y="2146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10350" y="2279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21463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Fragmentation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2489200"/>
            <a:ext cx="461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fragmentation increases with large datasets, reducing system stability and overall performance over time.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7450" y="3365500"/>
            <a:ext cx="5543550" cy="1219200"/>
          </a:xfrm>
          <a:custGeom>
            <a:avLst/>
            <a:gdLst/>
            <a:ahLst/>
            <a:cxnLst/>
            <a:rect l="l" t="t" r="r" b="b"/>
            <a:pathLst>
              <a:path w="5543550" h="1219200">
                <a:moveTo>
                  <a:pt x="0" y="0"/>
                </a:moveTo>
                <a:lnTo>
                  <a:pt x="5467350" y="0"/>
                </a:lnTo>
                <a:cubicBezTo>
                  <a:pt x="5509406" y="0"/>
                  <a:pt x="5543550" y="34144"/>
                  <a:pt x="5543550" y="76200"/>
                </a:cubicBezTo>
                <a:lnTo>
                  <a:pt x="5543550" y="1143000"/>
                </a:lnTo>
                <a:cubicBezTo>
                  <a:pt x="5543550" y="1185056"/>
                  <a:pt x="5509406" y="1219200"/>
                  <a:pt x="54673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67450" y="33655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2" name="Shape 30"/>
          <p:cNvSpPr/>
          <p:nvPr/>
        </p:nvSpPr>
        <p:spPr>
          <a:xfrm>
            <a:off x="64770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10350" y="3689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35560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 Performance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3898900"/>
            <a:ext cx="4610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performance when viewing or modifying large logs creates bottlenecks in critical system monitoring workflows.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51575" y="4778375"/>
            <a:ext cx="5559425" cy="1377950"/>
          </a:xfrm>
          <a:custGeom>
            <a:avLst/>
            <a:gdLst/>
            <a:ahLst/>
            <a:cxnLst/>
            <a:rect l="l" t="t" r="r" b="b"/>
            <a:pathLst>
              <a:path w="5559425" h="1377950">
                <a:moveTo>
                  <a:pt x="76201" y="0"/>
                </a:moveTo>
                <a:lnTo>
                  <a:pt x="5483224" y="0"/>
                </a:lnTo>
                <a:cubicBezTo>
                  <a:pt x="5525309" y="0"/>
                  <a:pt x="5559425" y="34116"/>
                  <a:pt x="5559425" y="76201"/>
                </a:cubicBezTo>
                <a:lnTo>
                  <a:pt x="5559425" y="1301749"/>
                </a:lnTo>
                <a:cubicBezTo>
                  <a:pt x="5559425" y="1343834"/>
                  <a:pt x="5525309" y="1377950"/>
                  <a:pt x="5483224" y="1377950"/>
                </a:cubicBezTo>
                <a:lnTo>
                  <a:pt x="76201" y="1377950"/>
                </a:lnTo>
                <a:cubicBezTo>
                  <a:pt x="34116" y="1377950"/>
                  <a:pt x="0" y="1343834"/>
                  <a:pt x="0" y="13017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83350" y="50101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8" name="Text 36"/>
          <p:cNvSpPr/>
          <p:nvPr/>
        </p:nvSpPr>
        <p:spPr>
          <a:xfrm>
            <a:off x="6692900" y="4972050"/>
            <a:ext cx="50006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Conventional string buffers require continuous memory. When logs grow large, operations like insertion or deletion force expensive memory copying, causing performance degradation and limiting scalability for large log processing systems.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697" y="333520"/>
            <a:ext cx="74116" cy="444693"/>
          </a:xfrm>
          <a:custGeom>
            <a:avLst/>
            <a:gdLst/>
            <a:ahLst/>
            <a:cxnLst/>
            <a:rect l="l" t="t" r="r" b="b"/>
            <a:pathLst>
              <a:path w="74116" h="444693">
                <a:moveTo>
                  <a:pt x="0" y="0"/>
                </a:moveTo>
                <a:lnTo>
                  <a:pt x="74116" y="0"/>
                </a:lnTo>
                <a:lnTo>
                  <a:pt x="74116" y="444693"/>
                </a:lnTo>
                <a:lnTo>
                  <a:pt x="0" y="444693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24985" y="240876"/>
            <a:ext cx="283491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kern="0" spc="58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INNOVATIVE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4985" y="500280"/>
            <a:ext cx="2927562" cy="3705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6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Rope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4985" y="944973"/>
            <a:ext cx="11358201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9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Rope Data Structure for Large Text 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785" y="1355696"/>
            <a:ext cx="6769216" cy="1822006"/>
          </a:xfrm>
          <a:custGeom>
            <a:avLst/>
            <a:gdLst/>
            <a:ahLst/>
            <a:cxnLst/>
            <a:rect l="l" t="t" r="r" b="b"/>
            <a:pathLst>
              <a:path w="6769216" h="1822006">
                <a:moveTo>
                  <a:pt x="74119" y="0"/>
                </a:moveTo>
                <a:lnTo>
                  <a:pt x="6695097" y="0"/>
                </a:lnTo>
                <a:cubicBezTo>
                  <a:pt x="6736032" y="0"/>
                  <a:pt x="6769216" y="33184"/>
                  <a:pt x="6769216" y="74119"/>
                </a:cubicBezTo>
                <a:lnTo>
                  <a:pt x="6769216" y="1747887"/>
                </a:lnTo>
                <a:cubicBezTo>
                  <a:pt x="6769216" y="1788822"/>
                  <a:pt x="6736032" y="1822006"/>
                  <a:pt x="6695097" y="1822006"/>
                </a:cubicBezTo>
                <a:lnTo>
                  <a:pt x="74119" y="1822006"/>
                </a:lnTo>
                <a:cubicBezTo>
                  <a:pt x="33212" y="1822006"/>
                  <a:pt x="0" y="1788794"/>
                  <a:pt x="0" y="1747887"/>
                </a:cubicBezTo>
                <a:lnTo>
                  <a:pt x="0" y="74119"/>
                </a:lnTo>
                <a:cubicBezTo>
                  <a:pt x="0" y="33212"/>
                  <a:pt x="33212" y="0"/>
                  <a:pt x="74119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2852" y="1581132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97277" y="-13897"/>
                </a:moveTo>
                <a:cubicBezTo>
                  <a:pt x="100316" y="-13897"/>
                  <a:pt x="103226" y="-12550"/>
                  <a:pt x="105224" y="-10205"/>
                </a:cubicBezTo>
                <a:lnTo>
                  <a:pt x="164285" y="59278"/>
                </a:lnTo>
                <a:cubicBezTo>
                  <a:pt x="166934" y="62361"/>
                  <a:pt x="167498" y="66704"/>
                  <a:pt x="165804" y="70395"/>
                </a:cubicBezTo>
                <a:cubicBezTo>
                  <a:pt x="164111" y="74087"/>
                  <a:pt x="160420" y="76432"/>
                  <a:pt x="156337" y="76432"/>
                </a:cubicBezTo>
                <a:lnTo>
                  <a:pt x="145524" y="76432"/>
                </a:lnTo>
                <a:lnTo>
                  <a:pt x="178181" y="114865"/>
                </a:lnTo>
                <a:cubicBezTo>
                  <a:pt x="180830" y="117948"/>
                  <a:pt x="181395" y="122291"/>
                  <a:pt x="179701" y="125982"/>
                </a:cubicBezTo>
                <a:cubicBezTo>
                  <a:pt x="178007" y="129673"/>
                  <a:pt x="174316" y="132018"/>
                  <a:pt x="170234" y="132018"/>
                </a:cubicBezTo>
                <a:lnTo>
                  <a:pt x="153515" y="132018"/>
                </a:lnTo>
                <a:lnTo>
                  <a:pt x="192078" y="177400"/>
                </a:lnTo>
                <a:cubicBezTo>
                  <a:pt x="194727" y="180483"/>
                  <a:pt x="195291" y="184826"/>
                  <a:pt x="193598" y="188517"/>
                </a:cubicBezTo>
                <a:cubicBezTo>
                  <a:pt x="191904" y="192208"/>
                  <a:pt x="188213" y="194553"/>
                  <a:pt x="184131" y="194553"/>
                </a:cubicBezTo>
                <a:lnTo>
                  <a:pt x="111173" y="194553"/>
                </a:lnTo>
                <a:lnTo>
                  <a:pt x="111173" y="222347"/>
                </a:lnTo>
                <a:cubicBezTo>
                  <a:pt x="111173" y="230033"/>
                  <a:pt x="104963" y="236243"/>
                  <a:pt x="97277" y="236243"/>
                </a:cubicBezTo>
                <a:cubicBezTo>
                  <a:pt x="89590" y="236243"/>
                  <a:pt x="83380" y="230033"/>
                  <a:pt x="83380" y="222347"/>
                </a:cubicBezTo>
                <a:lnTo>
                  <a:pt x="83380" y="194553"/>
                </a:lnTo>
                <a:lnTo>
                  <a:pt x="10422" y="194553"/>
                </a:lnTo>
                <a:cubicBezTo>
                  <a:pt x="6340" y="194553"/>
                  <a:pt x="2649" y="192208"/>
                  <a:pt x="955" y="188517"/>
                </a:cubicBezTo>
                <a:cubicBezTo>
                  <a:pt x="-738" y="184826"/>
                  <a:pt x="-174" y="180483"/>
                  <a:pt x="2475" y="177400"/>
                </a:cubicBezTo>
                <a:lnTo>
                  <a:pt x="41039" y="132018"/>
                </a:lnTo>
                <a:lnTo>
                  <a:pt x="24319" y="132018"/>
                </a:lnTo>
                <a:cubicBezTo>
                  <a:pt x="20237" y="132018"/>
                  <a:pt x="16546" y="129673"/>
                  <a:pt x="14852" y="125982"/>
                </a:cubicBezTo>
                <a:cubicBezTo>
                  <a:pt x="13158" y="122291"/>
                  <a:pt x="13723" y="117948"/>
                  <a:pt x="16372" y="114865"/>
                </a:cubicBezTo>
                <a:lnTo>
                  <a:pt x="49029" y="76432"/>
                </a:lnTo>
                <a:lnTo>
                  <a:pt x="38216" y="76432"/>
                </a:lnTo>
                <a:cubicBezTo>
                  <a:pt x="34134" y="76432"/>
                  <a:pt x="30442" y="74087"/>
                  <a:pt x="28749" y="70395"/>
                </a:cubicBezTo>
                <a:cubicBezTo>
                  <a:pt x="27055" y="66704"/>
                  <a:pt x="27620" y="62361"/>
                  <a:pt x="30269" y="59278"/>
                </a:cubicBezTo>
                <a:lnTo>
                  <a:pt x="89329" y="-10205"/>
                </a:lnTo>
                <a:cubicBezTo>
                  <a:pt x="91327" y="-12550"/>
                  <a:pt x="94237" y="-13897"/>
                  <a:pt x="97277" y="-1389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809095" y="1544074"/>
            <a:ext cx="6225702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Rope?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1162" y="1988767"/>
            <a:ext cx="1389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7053" y="1988767"/>
            <a:ext cx="298314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Rope is a </a:t>
            </a:r>
            <a:r>
              <a:rPr lang="en-US" sz="116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tree-based representation</a:t>
            </a:r>
            <a:r>
              <a:rPr lang="en-US" sz="11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strings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1162" y="2359344"/>
            <a:ext cx="1389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7053" y="2359344"/>
            <a:ext cx="269595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is stored in </a:t>
            </a:r>
            <a:r>
              <a:rPr lang="en-US" sz="116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small fragments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1162" y="2729922"/>
            <a:ext cx="138967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3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7053" y="2729922"/>
            <a:ext cx="3029471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node stores </a:t>
            </a:r>
            <a:r>
              <a:rPr lang="en-US" sz="116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substrings</a:t>
            </a:r>
            <a:r>
              <a:rPr lang="en-US" sz="1167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full text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785" y="3332110"/>
            <a:ext cx="6769216" cy="2118468"/>
          </a:xfrm>
          <a:custGeom>
            <a:avLst/>
            <a:gdLst/>
            <a:ahLst/>
            <a:cxnLst/>
            <a:rect l="l" t="t" r="r" b="b"/>
            <a:pathLst>
              <a:path w="6769216" h="2118468">
                <a:moveTo>
                  <a:pt x="74125" y="0"/>
                </a:moveTo>
                <a:lnTo>
                  <a:pt x="6695091" y="0"/>
                </a:lnTo>
                <a:cubicBezTo>
                  <a:pt x="6736029" y="0"/>
                  <a:pt x="6769216" y="33187"/>
                  <a:pt x="6769216" y="74125"/>
                </a:cubicBezTo>
                <a:lnTo>
                  <a:pt x="6769216" y="2044343"/>
                </a:lnTo>
                <a:cubicBezTo>
                  <a:pt x="6769216" y="2085281"/>
                  <a:pt x="6736029" y="2118468"/>
                  <a:pt x="6695091" y="2118468"/>
                </a:cubicBezTo>
                <a:lnTo>
                  <a:pt x="74125" y="2118468"/>
                </a:lnTo>
                <a:cubicBezTo>
                  <a:pt x="33187" y="2118468"/>
                  <a:pt x="0" y="2085281"/>
                  <a:pt x="0" y="2044343"/>
                </a:cubicBezTo>
                <a:lnTo>
                  <a:pt x="0" y="74125"/>
                </a:lnTo>
                <a:cubicBezTo>
                  <a:pt x="0" y="33214"/>
                  <a:pt x="33214" y="0"/>
                  <a:pt x="74125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2852" y="3557544"/>
            <a:ext cx="194553" cy="222347"/>
          </a:xfrm>
          <a:custGeom>
            <a:avLst/>
            <a:gdLst/>
            <a:ahLst/>
            <a:cxnLst/>
            <a:rect l="l" t="t" r="r" b="b"/>
            <a:pathLst>
              <a:path w="194553" h="222347">
                <a:moveTo>
                  <a:pt x="147131" y="-4299"/>
                </a:moveTo>
                <a:cubicBezTo>
                  <a:pt x="152299" y="-565"/>
                  <a:pt x="154209" y="6210"/>
                  <a:pt x="151864" y="12116"/>
                </a:cubicBezTo>
                <a:lnTo>
                  <a:pt x="117818" y="97277"/>
                </a:lnTo>
                <a:lnTo>
                  <a:pt x="180657" y="97277"/>
                </a:lnTo>
                <a:cubicBezTo>
                  <a:pt x="186519" y="97277"/>
                  <a:pt x="191730" y="100924"/>
                  <a:pt x="193728" y="106440"/>
                </a:cubicBezTo>
                <a:cubicBezTo>
                  <a:pt x="195726" y="111955"/>
                  <a:pt x="194032" y="118122"/>
                  <a:pt x="189559" y="121856"/>
                </a:cubicBezTo>
                <a:lnTo>
                  <a:pt x="64489" y="226081"/>
                </a:lnTo>
                <a:cubicBezTo>
                  <a:pt x="59582" y="230163"/>
                  <a:pt x="52590" y="230381"/>
                  <a:pt x="47422" y="226646"/>
                </a:cubicBezTo>
                <a:cubicBezTo>
                  <a:pt x="42255" y="222911"/>
                  <a:pt x="40344" y="216136"/>
                  <a:pt x="42689" y="210230"/>
                </a:cubicBezTo>
                <a:lnTo>
                  <a:pt x="76736" y="125070"/>
                </a:lnTo>
                <a:lnTo>
                  <a:pt x="13897" y="125070"/>
                </a:lnTo>
                <a:cubicBezTo>
                  <a:pt x="8034" y="125070"/>
                  <a:pt x="2823" y="121422"/>
                  <a:pt x="825" y="115907"/>
                </a:cubicBezTo>
                <a:cubicBezTo>
                  <a:pt x="-1173" y="110392"/>
                  <a:pt x="521" y="104225"/>
                  <a:pt x="4994" y="100490"/>
                </a:cubicBezTo>
                <a:lnTo>
                  <a:pt x="130064" y="-3735"/>
                </a:lnTo>
                <a:cubicBezTo>
                  <a:pt x="134971" y="-7817"/>
                  <a:pt x="141963" y="-8034"/>
                  <a:pt x="147131" y="-429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809095" y="3520486"/>
            <a:ext cx="6225702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1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Operations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1162" y="3965179"/>
            <a:ext cx="3140644" cy="592924"/>
          </a:xfrm>
          <a:custGeom>
            <a:avLst/>
            <a:gdLst/>
            <a:ahLst/>
            <a:cxnLst/>
            <a:rect l="l" t="t" r="r" b="b"/>
            <a:pathLst>
              <a:path w="3140644" h="592924">
                <a:moveTo>
                  <a:pt x="74116" y="0"/>
                </a:moveTo>
                <a:lnTo>
                  <a:pt x="3066529" y="0"/>
                </a:lnTo>
                <a:cubicBezTo>
                  <a:pt x="3107462" y="0"/>
                  <a:pt x="3140644" y="33183"/>
                  <a:pt x="3140644" y="74116"/>
                </a:cubicBezTo>
                <a:lnTo>
                  <a:pt x="3140644" y="518809"/>
                </a:lnTo>
                <a:cubicBezTo>
                  <a:pt x="3140644" y="559741"/>
                  <a:pt x="3107462" y="592924"/>
                  <a:pt x="3066529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2335" y="4076353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773" y="4187526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74116" y="18529"/>
                </a:moveTo>
                <a:cubicBezTo>
                  <a:pt x="74116" y="13404"/>
                  <a:pt x="69975" y="9264"/>
                  <a:pt x="64851" y="9264"/>
                </a:cubicBezTo>
                <a:cubicBezTo>
                  <a:pt x="59727" y="9264"/>
                  <a:pt x="55587" y="13404"/>
                  <a:pt x="55587" y="18529"/>
                </a:cubicBezTo>
                <a:lnTo>
                  <a:pt x="55587" y="64851"/>
                </a:lnTo>
                <a:lnTo>
                  <a:pt x="9264" y="64851"/>
                </a:lnTo>
                <a:cubicBezTo>
                  <a:pt x="4140" y="64851"/>
                  <a:pt x="0" y="68991"/>
                  <a:pt x="0" y="74116"/>
                </a:cubicBezTo>
                <a:cubicBezTo>
                  <a:pt x="0" y="79240"/>
                  <a:pt x="4140" y="83380"/>
                  <a:pt x="9264" y="83380"/>
                </a:cubicBezTo>
                <a:lnTo>
                  <a:pt x="55587" y="83380"/>
                </a:lnTo>
                <a:lnTo>
                  <a:pt x="55587" y="129702"/>
                </a:lnTo>
                <a:cubicBezTo>
                  <a:pt x="55587" y="134827"/>
                  <a:pt x="59727" y="138967"/>
                  <a:pt x="64851" y="138967"/>
                </a:cubicBezTo>
                <a:cubicBezTo>
                  <a:pt x="69975" y="138967"/>
                  <a:pt x="74116" y="134827"/>
                  <a:pt x="74116" y="129702"/>
                </a:cubicBezTo>
                <a:lnTo>
                  <a:pt x="74116" y="83380"/>
                </a:lnTo>
                <a:lnTo>
                  <a:pt x="120438" y="83380"/>
                </a:lnTo>
                <a:cubicBezTo>
                  <a:pt x="125562" y="83380"/>
                  <a:pt x="129702" y="79240"/>
                  <a:pt x="129702" y="74116"/>
                </a:cubicBezTo>
                <a:cubicBezTo>
                  <a:pt x="129702" y="68991"/>
                  <a:pt x="125562" y="64851"/>
                  <a:pt x="120438" y="64851"/>
                </a:cubicBezTo>
                <a:lnTo>
                  <a:pt x="74116" y="64851"/>
                </a:lnTo>
                <a:lnTo>
                  <a:pt x="74116" y="18529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9"/>
          <p:cNvSpPr/>
          <p:nvPr/>
        </p:nvSpPr>
        <p:spPr>
          <a:xfrm>
            <a:off x="1124086" y="4150468"/>
            <a:ext cx="43542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84813" y="3965179"/>
            <a:ext cx="3140644" cy="592924"/>
          </a:xfrm>
          <a:custGeom>
            <a:avLst/>
            <a:gdLst/>
            <a:ahLst/>
            <a:cxnLst/>
            <a:rect l="l" t="t" r="r" b="b"/>
            <a:pathLst>
              <a:path w="3140644" h="592924">
                <a:moveTo>
                  <a:pt x="74116" y="0"/>
                </a:moveTo>
                <a:lnTo>
                  <a:pt x="3066529" y="0"/>
                </a:lnTo>
                <a:cubicBezTo>
                  <a:pt x="3107462" y="0"/>
                  <a:pt x="3140644" y="33183"/>
                  <a:pt x="3140644" y="74116"/>
                </a:cubicBezTo>
                <a:lnTo>
                  <a:pt x="3140644" y="518809"/>
                </a:lnTo>
                <a:cubicBezTo>
                  <a:pt x="3140644" y="559741"/>
                  <a:pt x="3107462" y="592924"/>
                  <a:pt x="3066529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95986" y="4076353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16424" y="4187526"/>
            <a:ext cx="129702" cy="148231"/>
          </a:xfrm>
          <a:custGeom>
            <a:avLst/>
            <a:gdLst/>
            <a:ahLst/>
            <a:cxnLst/>
            <a:rect l="l" t="t" r="r" b="b"/>
            <a:pathLst>
              <a:path w="129702" h="148231">
                <a:moveTo>
                  <a:pt x="0" y="74116"/>
                </a:moveTo>
                <a:cubicBezTo>
                  <a:pt x="0" y="68991"/>
                  <a:pt x="4140" y="64851"/>
                  <a:pt x="9264" y="64851"/>
                </a:cubicBezTo>
                <a:lnTo>
                  <a:pt x="120438" y="64851"/>
                </a:lnTo>
                <a:cubicBezTo>
                  <a:pt x="125562" y="64851"/>
                  <a:pt x="129702" y="68991"/>
                  <a:pt x="129702" y="74116"/>
                </a:cubicBezTo>
                <a:cubicBezTo>
                  <a:pt x="129702" y="79240"/>
                  <a:pt x="125562" y="83380"/>
                  <a:pt x="120438" y="83380"/>
                </a:cubicBezTo>
                <a:lnTo>
                  <a:pt x="9264" y="83380"/>
                </a:lnTo>
                <a:cubicBezTo>
                  <a:pt x="4140" y="83380"/>
                  <a:pt x="0" y="79240"/>
                  <a:pt x="0" y="7411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Text 23"/>
          <p:cNvSpPr/>
          <p:nvPr/>
        </p:nvSpPr>
        <p:spPr>
          <a:xfrm>
            <a:off x="4377737" y="4150468"/>
            <a:ext cx="491015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1162" y="4669277"/>
            <a:ext cx="3140644" cy="592924"/>
          </a:xfrm>
          <a:custGeom>
            <a:avLst/>
            <a:gdLst/>
            <a:ahLst/>
            <a:cxnLst/>
            <a:rect l="l" t="t" r="r" b="b"/>
            <a:pathLst>
              <a:path w="3140644" h="592924">
                <a:moveTo>
                  <a:pt x="74116" y="0"/>
                </a:moveTo>
                <a:lnTo>
                  <a:pt x="3066529" y="0"/>
                </a:lnTo>
                <a:cubicBezTo>
                  <a:pt x="3107462" y="0"/>
                  <a:pt x="3140644" y="33183"/>
                  <a:pt x="3140644" y="74116"/>
                </a:cubicBezTo>
                <a:lnTo>
                  <a:pt x="3140644" y="518809"/>
                </a:lnTo>
                <a:cubicBezTo>
                  <a:pt x="3140644" y="559741"/>
                  <a:pt x="3107462" y="592924"/>
                  <a:pt x="3066529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2335" y="4780450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4244" y="4891623"/>
            <a:ext cx="166760" cy="148231"/>
          </a:xfrm>
          <a:custGeom>
            <a:avLst/>
            <a:gdLst/>
            <a:ahLst/>
            <a:cxnLst/>
            <a:rect l="l" t="t" r="r" b="b"/>
            <a:pathLst>
              <a:path w="166760" h="148231">
                <a:moveTo>
                  <a:pt x="121451" y="27793"/>
                </a:moveTo>
                <a:cubicBezTo>
                  <a:pt x="116645" y="27793"/>
                  <a:pt x="111984" y="29096"/>
                  <a:pt x="107902" y="31470"/>
                </a:cubicBezTo>
                <a:cubicBezTo>
                  <a:pt x="103327" y="26838"/>
                  <a:pt x="98000" y="22958"/>
                  <a:pt x="92123" y="20034"/>
                </a:cubicBezTo>
                <a:cubicBezTo>
                  <a:pt x="100288" y="13086"/>
                  <a:pt x="110681" y="9264"/>
                  <a:pt x="121451" y="9264"/>
                </a:cubicBezTo>
                <a:cubicBezTo>
                  <a:pt x="146465" y="9264"/>
                  <a:pt x="166760" y="29530"/>
                  <a:pt x="166760" y="54573"/>
                </a:cubicBezTo>
                <a:cubicBezTo>
                  <a:pt x="166760" y="66588"/>
                  <a:pt x="161983" y="78111"/>
                  <a:pt x="153500" y="86594"/>
                </a:cubicBezTo>
                <a:lnTo>
                  <a:pt x="132916" y="107178"/>
                </a:lnTo>
                <a:cubicBezTo>
                  <a:pt x="124433" y="115661"/>
                  <a:pt x="112910" y="120438"/>
                  <a:pt x="100896" y="120438"/>
                </a:cubicBezTo>
                <a:cubicBezTo>
                  <a:pt x="75882" y="120438"/>
                  <a:pt x="55587" y="100172"/>
                  <a:pt x="55587" y="75129"/>
                </a:cubicBezTo>
                <a:cubicBezTo>
                  <a:pt x="55587" y="74695"/>
                  <a:pt x="55587" y="74260"/>
                  <a:pt x="55616" y="73826"/>
                </a:cubicBezTo>
                <a:cubicBezTo>
                  <a:pt x="55760" y="68702"/>
                  <a:pt x="60016" y="64677"/>
                  <a:pt x="65141" y="64822"/>
                </a:cubicBezTo>
                <a:cubicBezTo>
                  <a:pt x="70265" y="64967"/>
                  <a:pt x="74289" y="69223"/>
                  <a:pt x="74144" y="74347"/>
                </a:cubicBezTo>
                <a:cubicBezTo>
                  <a:pt x="74144" y="74608"/>
                  <a:pt x="74144" y="74868"/>
                  <a:pt x="74144" y="75100"/>
                </a:cubicBezTo>
                <a:cubicBezTo>
                  <a:pt x="74144" y="89894"/>
                  <a:pt x="86130" y="101880"/>
                  <a:pt x="100924" y="101880"/>
                </a:cubicBezTo>
                <a:cubicBezTo>
                  <a:pt x="108018" y="101880"/>
                  <a:pt x="114821" y="99072"/>
                  <a:pt x="119859" y="94034"/>
                </a:cubicBezTo>
                <a:lnTo>
                  <a:pt x="140443" y="73450"/>
                </a:lnTo>
                <a:cubicBezTo>
                  <a:pt x="145452" y="68441"/>
                  <a:pt x="148289" y="61609"/>
                  <a:pt x="148289" y="54515"/>
                </a:cubicBezTo>
                <a:cubicBezTo>
                  <a:pt x="148289" y="39721"/>
                  <a:pt x="136303" y="27735"/>
                  <a:pt x="121509" y="27735"/>
                </a:cubicBezTo>
                <a:close/>
                <a:moveTo>
                  <a:pt x="79674" y="50173"/>
                </a:moveTo>
                <a:cubicBezTo>
                  <a:pt x="79124" y="49941"/>
                  <a:pt x="78574" y="49623"/>
                  <a:pt x="78082" y="49275"/>
                </a:cubicBezTo>
                <a:cubicBezTo>
                  <a:pt x="74434" y="47393"/>
                  <a:pt x="70265" y="46322"/>
                  <a:pt x="65893" y="46322"/>
                </a:cubicBezTo>
                <a:cubicBezTo>
                  <a:pt x="58800" y="46322"/>
                  <a:pt x="51997" y="49130"/>
                  <a:pt x="46959" y="54168"/>
                </a:cubicBezTo>
                <a:lnTo>
                  <a:pt x="26375" y="74752"/>
                </a:lnTo>
                <a:cubicBezTo>
                  <a:pt x="21366" y="79761"/>
                  <a:pt x="18529" y="86594"/>
                  <a:pt x="18529" y="93687"/>
                </a:cubicBezTo>
                <a:cubicBezTo>
                  <a:pt x="18529" y="108481"/>
                  <a:pt x="30515" y="120467"/>
                  <a:pt x="45309" y="120467"/>
                </a:cubicBezTo>
                <a:cubicBezTo>
                  <a:pt x="50086" y="120467"/>
                  <a:pt x="54747" y="119193"/>
                  <a:pt x="58829" y="116819"/>
                </a:cubicBezTo>
                <a:cubicBezTo>
                  <a:pt x="63403" y="121451"/>
                  <a:pt x="68731" y="125330"/>
                  <a:pt x="74637" y="128255"/>
                </a:cubicBezTo>
                <a:cubicBezTo>
                  <a:pt x="66472" y="135174"/>
                  <a:pt x="56108" y="139024"/>
                  <a:pt x="45309" y="139024"/>
                </a:cubicBezTo>
                <a:cubicBezTo>
                  <a:pt x="20295" y="139024"/>
                  <a:pt x="0" y="118759"/>
                  <a:pt x="0" y="93716"/>
                </a:cubicBezTo>
                <a:cubicBezTo>
                  <a:pt x="0" y="81701"/>
                  <a:pt x="4777" y="70178"/>
                  <a:pt x="13260" y="61695"/>
                </a:cubicBezTo>
                <a:lnTo>
                  <a:pt x="33844" y="41111"/>
                </a:lnTo>
                <a:cubicBezTo>
                  <a:pt x="42327" y="32628"/>
                  <a:pt x="53850" y="27851"/>
                  <a:pt x="65864" y="27851"/>
                </a:cubicBezTo>
                <a:cubicBezTo>
                  <a:pt x="90936" y="27851"/>
                  <a:pt x="111173" y="48291"/>
                  <a:pt x="111173" y="73276"/>
                </a:cubicBezTo>
                <a:cubicBezTo>
                  <a:pt x="111173" y="73652"/>
                  <a:pt x="111173" y="74029"/>
                  <a:pt x="111173" y="74405"/>
                </a:cubicBezTo>
                <a:cubicBezTo>
                  <a:pt x="111057" y="79529"/>
                  <a:pt x="106802" y="83554"/>
                  <a:pt x="101677" y="83438"/>
                </a:cubicBezTo>
                <a:cubicBezTo>
                  <a:pt x="96553" y="83322"/>
                  <a:pt x="92529" y="79066"/>
                  <a:pt x="92644" y="73942"/>
                </a:cubicBezTo>
                <a:cubicBezTo>
                  <a:pt x="92644" y="73710"/>
                  <a:pt x="92644" y="73508"/>
                  <a:pt x="92644" y="73276"/>
                </a:cubicBezTo>
                <a:cubicBezTo>
                  <a:pt x="92644" y="63519"/>
                  <a:pt x="87433" y="54950"/>
                  <a:pt x="79674" y="5023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1124086" y="4854565"/>
            <a:ext cx="880122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Concatenate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84813" y="4669277"/>
            <a:ext cx="3140644" cy="592924"/>
          </a:xfrm>
          <a:custGeom>
            <a:avLst/>
            <a:gdLst/>
            <a:ahLst/>
            <a:cxnLst/>
            <a:rect l="l" t="t" r="r" b="b"/>
            <a:pathLst>
              <a:path w="3140644" h="592924">
                <a:moveTo>
                  <a:pt x="74116" y="0"/>
                </a:moveTo>
                <a:lnTo>
                  <a:pt x="3066529" y="0"/>
                </a:lnTo>
                <a:cubicBezTo>
                  <a:pt x="3107462" y="0"/>
                  <a:pt x="3140644" y="33183"/>
                  <a:pt x="3140644" y="74116"/>
                </a:cubicBezTo>
                <a:lnTo>
                  <a:pt x="3140644" y="518809"/>
                </a:lnTo>
                <a:cubicBezTo>
                  <a:pt x="3140644" y="559741"/>
                  <a:pt x="3107462" y="592924"/>
                  <a:pt x="3066529" y="592924"/>
                </a:cubicBezTo>
                <a:lnTo>
                  <a:pt x="74116" y="592924"/>
                </a:lnTo>
                <a:cubicBezTo>
                  <a:pt x="33183" y="592924"/>
                  <a:pt x="0" y="559741"/>
                  <a:pt x="0" y="518809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95986" y="4780450"/>
            <a:ext cx="370578" cy="370578"/>
          </a:xfrm>
          <a:custGeom>
            <a:avLst/>
            <a:gdLst/>
            <a:ahLst/>
            <a:cxnLst/>
            <a:rect l="l" t="t" r="r" b="b"/>
            <a:pathLst>
              <a:path w="370578" h="370578">
                <a:moveTo>
                  <a:pt x="74116" y="0"/>
                </a:moveTo>
                <a:lnTo>
                  <a:pt x="296462" y="0"/>
                </a:lnTo>
                <a:cubicBezTo>
                  <a:pt x="337395" y="0"/>
                  <a:pt x="370578" y="33183"/>
                  <a:pt x="370578" y="74116"/>
                </a:cubicBezTo>
                <a:lnTo>
                  <a:pt x="370578" y="296462"/>
                </a:lnTo>
                <a:cubicBezTo>
                  <a:pt x="370578" y="337395"/>
                  <a:pt x="337395" y="370578"/>
                  <a:pt x="296462" y="370578"/>
                </a:cubicBezTo>
                <a:lnTo>
                  <a:pt x="74116" y="370578"/>
                </a:lnTo>
                <a:cubicBezTo>
                  <a:pt x="33183" y="370578"/>
                  <a:pt x="0" y="337395"/>
                  <a:pt x="0" y="296462"/>
                </a:cubicBezTo>
                <a:lnTo>
                  <a:pt x="0" y="74116"/>
                </a:lnTo>
                <a:cubicBezTo>
                  <a:pt x="0" y="33183"/>
                  <a:pt x="33183" y="0"/>
                  <a:pt x="74116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7159" y="4891623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55587" y="74116"/>
                </a:moveTo>
                <a:lnTo>
                  <a:pt x="44151" y="85551"/>
                </a:lnTo>
                <a:cubicBezTo>
                  <a:pt x="40503" y="84133"/>
                  <a:pt x="36566" y="83380"/>
                  <a:pt x="32426" y="83380"/>
                </a:cubicBezTo>
                <a:cubicBezTo>
                  <a:pt x="14505" y="83380"/>
                  <a:pt x="0" y="97885"/>
                  <a:pt x="0" y="115805"/>
                </a:cubicBezTo>
                <a:cubicBezTo>
                  <a:pt x="0" y="133726"/>
                  <a:pt x="14505" y="148231"/>
                  <a:pt x="32426" y="148231"/>
                </a:cubicBezTo>
                <a:cubicBezTo>
                  <a:pt x="50346" y="148231"/>
                  <a:pt x="64851" y="133726"/>
                  <a:pt x="64851" y="115805"/>
                </a:cubicBezTo>
                <a:cubicBezTo>
                  <a:pt x="64851" y="111665"/>
                  <a:pt x="64069" y="107728"/>
                  <a:pt x="62680" y="104080"/>
                </a:cubicBezTo>
                <a:lnTo>
                  <a:pt x="144525" y="22235"/>
                </a:lnTo>
                <a:cubicBezTo>
                  <a:pt x="146581" y="20179"/>
                  <a:pt x="146581" y="16879"/>
                  <a:pt x="144525" y="14823"/>
                </a:cubicBezTo>
                <a:cubicBezTo>
                  <a:pt x="136332" y="6630"/>
                  <a:pt x="123072" y="6630"/>
                  <a:pt x="114879" y="14823"/>
                </a:cubicBezTo>
                <a:lnTo>
                  <a:pt x="74116" y="55587"/>
                </a:lnTo>
                <a:lnTo>
                  <a:pt x="62680" y="44151"/>
                </a:lnTo>
                <a:cubicBezTo>
                  <a:pt x="64098" y="40503"/>
                  <a:pt x="64851" y="36566"/>
                  <a:pt x="64851" y="32426"/>
                </a:cubicBezTo>
                <a:cubicBezTo>
                  <a:pt x="64851" y="14505"/>
                  <a:pt x="50346" y="0"/>
                  <a:pt x="32426" y="0"/>
                </a:cubicBezTo>
                <a:cubicBezTo>
                  <a:pt x="14505" y="0"/>
                  <a:pt x="0" y="14505"/>
                  <a:pt x="0" y="32426"/>
                </a:cubicBezTo>
                <a:cubicBezTo>
                  <a:pt x="0" y="50346"/>
                  <a:pt x="14505" y="64851"/>
                  <a:pt x="32426" y="64851"/>
                </a:cubicBezTo>
                <a:cubicBezTo>
                  <a:pt x="36566" y="64851"/>
                  <a:pt x="40503" y="64069"/>
                  <a:pt x="44151" y="62680"/>
                </a:cubicBezTo>
                <a:lnTo>
                  <a:pt x="55587" y="74116"/>
                </a:lnTo>
                <a:close/>
                <a:moveTo>
                  <a:pt x="83930" y="102459"/>
                </a:moveTo>
                <a:lnTo>
                  <a:pt x="114879" y="133408"/>
                </a:lnTo>
                <a:cubicBezTo>
                  <a:pt x="123072" y="141601"/>
                  <a:pt x="136332" y="141601"/>
                  <a:pt x="144525" y="133408"/>
                </a:cubicBezTo>
                <a:cubicBezTo>
                  <a:pt x="146581" y="131352"/>
                  <a:pt x="146581" y="128052"/>
                  <a:pt x="144525" y="125996"/>
                </a:cubicBezTo>
                <a:lnTo>
                  <a:pt x="102459" y="83930"/>
                </a:lnTo>
                <a:lnTo>
                  <a:pt x="83930" y="102459"/>
                </a:lnTo>
                <a:close/>
                <a:moveTo>
                  <a:pt x="18529" y="32426"/>
                </a:moveTo>
                <a:cubicBezTo>
                  <a:pt x="18529" y="24756"/>
                  <a:pt x="24756" y="18529"/>
                  <a:pt x="32426" y="18529"/>
                </a:cubicBezTo>
                <a:cubicBezTo>
                  <a:pt x="40095" y="18529"/>
                  <a:pt x="46322" y="24756"/>
                  <a:pt x="46322" y="32426"/>
                </a:cubicBezTo>
                <a:cubicBezTo>
                  <a:pt x="46322" y="40095"/>
                  <a:pt x="40095" y="46322"/>
                  <a:pt x="32426" y="46322"/>
                </a:cubicBezTo>
                <a:cubicBezTo>
                  <a:pt x="24756" y="46322"/>
                  <a:pt x="18529" y="40095"/>
                  <a:pt x="18529" y="32426"/>
                </a:cubicBezTo>
                <a:close/>
                <a:moveTo>
                  <a:pt x="32426" y="101909"/>
                </a:moveTo>
                <a:cubicBezTo>
                  <a:pt x="40095" y="101909"/>
                  <a:pt x="46322" y="108136"/>
                  <a:pt x="46322" y="115805"/>
                </a:cubicBezTo>
                <a:cubicBezTo>
                  <a:pt x="46322" y="123475"/>
                  <a:pt x="40095" y="129702"/>
                  <a:pt x="32426" y="129702"/>
                </a:cubicBezTo>
                <a:cubicBezTo>
                  <a:pt x="24756" y="129702"/>
                  <a:pt x="18529" y="123475"/>
                  <a:pt x="18529" y="115805"/>
                </a:cubicBezTo>
                <a:cubicBezTo>
                  <a:pt x="18529" y="108136"/>
                  <a:pt x="24756" y="101909"/>
                  <a:pt x="32426" y="1019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1"/>
          <p:cNvSpPr/>
          <p:nvPr/>
        </p:nvSpPr>
        <p:spPr>
          <a:xfrm>
            <a:off x="4377737" y="4854565"/>
            <a:ext cx="35204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Split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2785" y="5604986"/>
            <a:ext cx="6769216" cy="1117909"/>
          </a:xfrm>
          <a:custGeom>
            <a:avLst/>
            <a:gdLst/>
            <a:ahLst/>
            <a:cxnLst/>
            <a:rect l="l" t="t" r="r" b="b"/>
            <a:pathLst>
              <a:path w="6769216" h="1117909">
                <a:moveTo>
                  <a:pt x="74117" y="0"/>
                </a:moveTo>
                <a:lnTo>
                  <a:pt x="6695098" y="0"/>
                </a:lnTo>
                <a:cubicBezTo>
                  <a:pt x="6736032" y="0"/>
                  <a:pt x="6769216" y="33183"/>
                  <a:pt x="6769216" y="74117"/>
                </a:cubicBezTo>
                <a:lnTo>
                  <a:pt x="6769216" y="1043791"/>
                </a:lnTo>
                <a:cubicBezTo>
                  <a:pt x="6769216" y="1084725"/>
                  <a:pt x="6736032" y="1117909"/>
                  <a:pt x="6695098" y="1117909"/>
                </a:cubicBezTo>
                <a:lnTo>
                  <a:pt x="74117" y="1117909"/>
                </a:lnTo>
                <a:cubicBezTo>
                  <a:pt x="33183" y="1117909"/>
                  <a:pt x="0" y="1084725"/>
                  <a:pt x="0" y="1043791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FFCA28">
              <a:alpha val="10196"/>
            </a:srgbClr>
          </a:solidFill>
          <a:ln w="8467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4104" y="5904537"/>
            <a:ext cx="518809" cy="518809"/>
          </a:xfrm>
          <a:custGeom>
            <a:avLst/>
            <a:gdLst/>
            <a:ahLst/>
            <a:cxnLst/>
            <a:rect l="l" t="t" r="r" b="b"/>
            <a:pathLst>
              <a:path w="518809" h="518809">
                <a:moveTo>
                  <a:pt x="74117" y="0"/>
                </a:moveTo>
                <a:lnTo>
                  <a:pt x="444692" y="0"/>
                </a:lnTo>
                <a:cubicBezTo>
                  <a:pt x="485625" y="0"/>
                  <a:pt x="518809" y="33183"/>
                  <a:pt x="518809" y="74117"/>
                </a:cubicBezTo>
                <a:lnTo>
                  <a:pt x="518809" y="444692"/>
                </a:lnTo>
                <a:cubicBezTo>
                  <a:pt x="518809" y="485625"/>
                  <a:pt x="485625" y="518809"/>
                  <a:pt x="444692" y="518809"/>
                </a:cubicBezTo>
                <a:lnTo>
                  <a:pt x="74117" y="518809"/>
                </a:lnTo>
                <a:cubicBezTo>
                  <a:pt x="33183" y="518809"/>
                  <a:pt x="0" y="485625"/>
                  <a:pt x="0" y="444692"/>
                </a:cubicBezTo>
                <a:lnTo>
                  <a:pt x="0" y="74117"/>
                </a:lnTo>
                <a:cubicBezTo>
                  <a:pt x="0" y="33211"/>
                  <a:pt x="33211" y="0"/>
                  <a:pt x="74117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2335" y="6052768"/>
            <a:ext cx="222347" cy="222347"/>
          </a:xfrm>
          <a:custGeom>
            <a:avLst/>
            <a:gdLst/>
            <a:ahLst/>
            <a:cxnLst/>
            <a:rect l="l" t="t" r="r" b="b"/>
            <a:pathLst>
              <a:path w="222347" h="222347">
                <a:moveTo>
                  <a:pt x="0" y="111173"/>
                </a:moveTo>
                <a:cubicBezTo>
                  <a:pt x="0" y="49815"/>
                  <a:pt x="49815" y="0"/>
                  <a:pt x="111173" y="0"/>
                </a:cubicBezTo>
                <a:cubicBezTo>
                  <a:pt x="172531" y="0"/>
                  <a:pt x="222347" y="49815"/>
                  <a:pt x="222347" y="111173"/>
                </a:cubicBezTo>
                <a:cubicBezTo>
                  <a:pt x="222347" y="172531"/>
                  <a:pt x="172531" y="222347"/>
                  <a:pt x="111173" y="222347"/>
                </a:cubicBezTo>
                <a:cubicBezTo>
                  <a:pt x="49815" y="222347"/>
                  <a:pt x="0" y="172531"/>
                  <a:pt x="0" y="111173"/>
                </a:cubicBezTo>
                <a:close/>
                <a:moveTo>
                  <a:pt x="125070" y="41690"/>
                </a:moveTo>
                <a:cubicBezTo>
                  <a:pt x="125070" y="34020"/>
                  <a:pt x="118843" y="27793"/>
                  <a:pt x="111173" y="27793"/>
                </a:cubicBezTo>
                <a:cubicBezTo>
                  <a:pt x="103503" y="27793"/>
                  <a:pt x="97277" y="34020"/>
                  <a:pt x="97277" y="41690"/>
                </a:cubicBezTo>
                <a:cubicBezTo>
                  <a:pt x="97277" y="49360"/>
                  <a:pt x="103503" y="55587"/>
                  <a:pt x="111173" y="55587"/>
                </a:cubicBezTo>
                <a:cubicBezTo>
                  <a:pt x="118843" y="55587"/>
                  <a:pt x="125070" y="49360"/>
                  <a:pt x="125070" y="41690"/>
                </a:cubicBezTo>
                <a:close/>
                <a:moveTo>
                  <a:pt x="111173" y="180657"/>
                </a:moveTo>
                <a:cubicBezTo>
                  <a:pt x="126503" y="180657"/>
                  <a:pt x="138967" y="168193"/>
                  <a:pt x="138967" y="152863"/>
                </a:cubicBezTo>
                <a:cubicBezTo>
                  <a:pt x="138967" y="145828"/>
                  <a:pt x="136361" y="139357"/>
                  <a:pt x="132018" y="134494"/>
                </a:cubicBezTo>
                <a:lnTo>
                  <a:pt x="162200" y="74173"/>
                </a:lnTo>
                <a:cubicBezTo>
                  <a:pt x="164762" y="69006"/>
                  <a:pt x="162678" y="62752"/>
                  <a:pt x="157553" y="60190"/>
                </a:cubicBezTo>
                <a:cubicBezTo>
                  <a:pt x="152429" y="57628"/>
                  <a:pt x="146132" y="59712"/>
                  <a:pt x="143570" y="64837"/>
                </a:cubicBezTo>
                <a:lnTo>
                  <a:pt x="113388" y="125157"/>
                </a:lnTo>
                <a:cubicBezTo>
                  <a:pt x="112650" y="125113"/>
                  <a:pt x="111912" y="125070"/>
                  <a:pt x="111173" y="125070"/>
                </a:cubicBezTo>
                <a:cubicBezTo>
                  <a:pt x="95844" y="125070"/>
                  <a:pt x="83380" y="137533"/>
                  <a:pt x="83380" y="152863"/>
                </a:cubicBezTo>
                <a:cubicBezTo>
                  <a:pt x="83380" y="168193"/>
                  <a:pt x="95844" y="180657"/>
                  <a:pt x="111173" y="180657"/>
                </a:cubicBezTo>
                <a:close/>
                <a:moveTo>
                  <a:pt x="76432" y="62535"/>
                </a:moveTo>
                <a:cubicBezTo>
                  <a:pt x="76432" y="54865"/>
                  <a:pt x="70205" y="48638"/>
                  <a:pt x="62535" y="48638"/>
                </a:cubicBezTo>
                <a:cubicBezTo>
                  <a:pt x="54865" y="48638"/>
                  <a:pt x="48638" y="54865"/>
                  <a:pt x="48638" y="62535"/>
                </a:cubicBezTo>
                <a:cubicBezTo>
                  <a:pt x="48638" y="70205"/>
                  <a:pt x="54865" y="76432"/>
                  <a:pt x="62535" y="76432"/>
                </a:cubicBezTo>
                <a:cubicBezTo>
                  <a:pt x="70205" y="76432"/>
                  <a:pt x="76432" y="70205"/>
                  <a:pt x="76432" y="62535"/>
                </a:cubicBezTo>
                <a:close/>
                <a:moveTo>
                  <a:pt x="41690" y="125070"/>
                </a:moveTo>
                <a:cubicBezTo>
                  <a:pt x="49360" y="125070"/>
                  <a:pt x="55587" y="118843"/>
                  <a:pt x="55587" y="111173"/>
                </a:cubicBezTo>
                <a:cubicBezTo>
                  <a:pt x="55587" y="103503"/>
                  <a:pt x="49360" y="97277"/>
                  <a:pt x="41690" y="97277"/>
                </a:cubicBezTo>
                <a:cubicBezTo>
                  <a:pt x="34020" y="97277"/>
                  <a:pt x="27793" y="103503"/>
                  <a:pt x="27793" y="111173"/>
                </a:cubicBezTo>
                <a:cubicBezTo>
                  <a:pt x="27793" y="118843"/>
                  <a:pt x="34020" y="125070"/>
                  <a:pt x="41690" y="125070"/>
                </a:cubicBezTo>
                <a:close/>
                <a:moveTo>
                  <a:pt x="194553" y="111173"/>
                </a:moveTo>
                <a:cubicBezTo>
                  <a:pt x="194553" y="103503"/>
                  <a:pt x="188326" y="97277"/>
                  <a:pt x="180657" y="97277"/>
                </a:cubicBezTo>
                <a:cubicBezTo>
                  <a:pt x="172987" y="97277"/>
                  <a:pt x="166760" y="103503"/>
                  <a:pt x="166760" y="111173"/>
                </a:cubicBezTo>
                <a:cubicBezTo>
                  <a:pt x="166760" y="118843"/>
                  <a:pt x="172987" y="125070"/>
                  <a:pt x="180657" y="125070"/>
                </a:cubicBezTo>
                <a:cubicBezTo>
                  <a:pt x="188326" y="125070"/>
                  <a:pt x="194553" y="118843"/>
                  <a:pt x="194553" y="111173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7" name="Text 35"/>
          <p:cNvSpPr/>
          <p:nvPr/>
        </p:nvSpPr>
        <p:spPr>
          <a:xfrm>
            <a:off x="1161143" y="5756306"/>
            <a:ext cx="133407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61143" y="6015710"/>
            <a:ext cx="1398930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88" b="1" dirty="0">
                <a:solidFill>
                  <a:srgbClr val="FFCA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O(log N)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61143" y="6349230"/>
            <a:ext cx="1334079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most operations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44191" y="1355696"/>
            <a:ext cx="4434578" cy="3943562"/>
          </a:xfrm>
          <a:custGeom>
            <a:avLst/>
            <a:gdLst/>
            <a:ahLst/>
            <a:cxnLst/>
            <a:rect l="l" t="t" r="r" b="b"/>
            <a:pathLst>
              <a:path w="4434578" h="3943562">
                <a:moveTo>
                  <a:pt x="74100" y="0"/>
                </a:moveTo>
                <a:lnTo>
                  <a:pt x="4360478" y="0"/>
                </a:lnTo>
                <a:cubicBezTo>
                  <a:pt x="4401402" y="0"/>
                  <a:pt x="4434578" y="33175"/>
                  <a:pt x="4434578" y="74100"/>
                </a:cubicBezTo>
                <a:lnTo>
                  <a:pt x="4434578" y="3869463"/>
                </a:lnTo>
                <a:cubicBezTo>
                  <a:pt x="4434578" y="3910387"/>
                  <a:pt x="4401402" y="3943562"/>
                  <a:pt x="4360478" y="3943562"/>
                </a:cubicBezTo>
                <a:lnTo>
                  <a:pt x="74100" y="3943562"/>
                </a:lnTo>
                <a:cubicBezTo>
                  <a:pt x="33175" y="3943562"/>
                  <a:pt x="0" y="3910387"/>
                  <a:pt x="0" y="3869463"/>
                </a:cubicBezTo>
                <a:lnTo>
                  <a:pt x="0" y="74100"/>
                </a:lnTo>
                <a:cubicBezTo>
                  <a:pt x="0" y="33203"/>
                  <a:pt x="33203" y="0"/>
                  <a:pt x="74100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86246" y="1544074"/>
            <a:ext cx="415046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Rope Tree Structure</a:t>
            </a:r>
            <a:endParaRPr lang="en-US" sz="1600" dirty="0"/>
          </a:p>
        </p:txBody>
      </p:sp>
      <p:pic>
        <p:nvPicPr>
          <p:cNvPr id="42" name="Image 0" descr="https://kimi-img.moonshot.cn/pub/slides/26-03-29-23:27:19-d74k9lohklbnqd0hc13g.png"/>
          <p:cNvPicPr>
            <a:picLocks noChangeAspect="1"/>
          </p:cNvPicPr>
          <p:nvPr/>
        </p:nvPicPr>
        <p:blipFill>
          <a:blip r:embed="rId3"/>
          <a:srcRect l="49" r="49"/>
          <a:stretch/>
        </p:blipFill>
        <p:spPr>
          <a:xfrm>
            <a:off x="7532568" y="1951709"/>
            <a:ext cx="3928122" cy="3159173"/>
          </a:xfrm>
          <a:prstGeom prst="roundRect">
            <a:avLst>
              <a:gd name="adj" fmla="val 0"/>
            </a:avLst>
          </a:prstGeom>
        </p:spPr>
      </p:pic>
      <p:sp>
        <p:nvSpPr>
          <p:cNvPr id="43" name="Shape 40"/>
          <p:cNvSpPr/>
          <p:nvPr/>
        </p:nvSpPr>
        <p:spPr>
          <a:xfrm>
            <a:off x="7344191" y="5456755"/>
            <a:ext cx="4434578" cy="1266140"/>
          </a:xfrm>
          <a:custGeom>
            <a:avLst/>
            <a:gdLst/>
            <a:ahLst/>
            <a:cxnLst/>
            <a:rect l="l" t="t" r="r" b="b"/>
            <a:pathLst>
              <a:path w="4434578" h="1266140">
                <a:moveTo>
                  <a:pt x="74120" y="0"/>
                </a:moveTo>
                <a:lnTo>
                  <a:pt x="4360458" y="0"/>
                </a:lnTo>
                <a:cubicBezTo>
                  <a:pt x="4401393" y="0"/>
                  <a:pt x="4434578" y="33185"/>
                  <a:pt x="4434578" y="74120"/>
                </a:cubicBezTo>
                <a:lnTo>
                  <a:pt x="4434578" y="1192020"/>
                </a:lnTo>
                <a:cubicBezTo>
                  <a:pt x="4434578" y="1232955"/>
                  <a:pt x="4401393" y="1266140"/>
                  <a:pt x="4360458" y="1266140"/>
                </a:cubicBezTo>
                <a:lnTo>
                  <a:pt x="74120" y="1266140"/>
                </a:lnTo>
                <a:cubicBezTo>
                  <a:pt x="33212" y="1266140"/>
                  <a:pt x="0" y="1232928"/>
                  <a:pt x="0" y="1192020"/>
                </a:cubicBezTo>
                <a:lnTo>
                  <a:pt x="0" y="74120"/>
                </a:lnTo>
                <a:cubicBezTo>
                  <a:pt x="0" y="33185"/>
                  <a:pt x="33185" y="0"/>
                  <a:pt x="74120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514039" y="5645132"/>
            <a:ext cx="148231" cy="148231"/>
          </a:xfrm>
          <a:custGeom>
            <a:avLst/>
            <a:gdLst/>
            <a:ahLst/>
            <a:cxnLst/>
            <a:rect l="l" t="t" r="r" b="b"/>
            <a:pathLst>
              <a:path w="148231" h="148231">
                <a:moveTo>
                  <a:pt x="74116" y="148231"/>
                </a:moveTo>
                <a:cubicBezTo>
                  <a:pt x="115021" y="148231"/>
                  <a:pt x="148231" y="115021"/>
                  <a:pt x="148231" y="74116"/>
                </a:cubicBezTo>
                <a:cubicBezTo>
                  <a:pt x="148231" y="33210"/>
                  <a:pt x="115021" y="0"/>
                  <a:pt x="74116" y="0"/>
                </a:cubicBezTo>
                <a:cubicBezTo>
                  <a:pt x="33210" y="0"/>
                  <a:pt x="0" y="33210"/>
                  <a:pt x="0" y="74116"/>
                </a:cubicBezTo>
                <a:cubicBezTo>
                  <a:pt x="0" y="115021"/>
                  <a:pt x="33210" y="148231"/>
                  <a:pt x="74116" y="148231"/>
                </a:cubicBezTo>
                <a:close/>
                <a:moveTo>
                  <a:pt x="64851" y="46322"/>
                </a:moveTo>
                <a:cubicBezTo>
                  <a:pt x="64851" y="41209"/>
                  <a:pt x="69002" y="37058"/>
                  <a:pt x="74116" y="37058"/>
                </a:cubicBezTo>
                <a:cubicBezTo>
                  <a:pt x="79229" y="37058"/>
                  <a:pt x="83380" y="41209"/>
                  <a:pt x="83380" y="46322"/>
                </a:cubicBezTo>
                <a:cubicBezTo>
                  <a:pt x="83380" y="51435"/>
                  <a:pt x="79229" y="55587"/>
                  <a:pt x="74116" y="55587"/>
                </a:cubicBezTo>
                <a:cubicBezTo>
                  <a:pt x="69002" y="55587"/>
                  <a:pt x="64851" y="51435"/>
                  <a:pt x="64851" y="46322"/>
                </a:cubicBezTo>
                <a:close/>
                <a:moveTo>
                  <a:pt x="62535" y="64851"/>
                </a:moveTo>
                <a:lnTo>
                  <a:pt x="76432" y="64851"/>
                </a:lnTo>
                <a:cubicBezTo>
                  <a:pt x="80282" y="64851"/>
                  <a:pt x="83380" y="67949"/>
                  <a:pt x="83380" y="71799"/>
                </a:cubicBezTo>
                <a:lnTo>
                  <a:pt x="83380" y="97277"/>
                </a:lnTo>
                <a:lnTo>
                  <a:pt x="85696" y="97277"/>
                </a:lnTo>
                <a:cubicBezTo>
                  <a:pt x="89547" y="97277"/>
                  <a:pt x="92644" y="100374"/>
                  <a:pt x="92644" y="104225"/>
                </a:cubicBezTo>
                <a:cubicBezTo>
                  <a:pt x="92644" y="108075"/>
                  <a:pt x="89547" y="111173"/>
                  <a:pt x="85696" y="111173"/>
                </a:cubicBezTo>
                <a:lnTo>
                  <a:pt x="62535" y="111173"/>
                </a:lnTo>
                <a:cubicBezTo>
                  <a:pt x="58684" y="111173"/>
                  <a:pt x="55587" y="108075"/>
                  <a:pt x="55587" y="104225"/>
                </a:cubicBezTo>
                <a:cubicBezTo>
                  <a:pt x="55587" y="100374"/>
                  <a:pt x="58684" y="97277"/>
                  <a:pt x="62535" y="97277"/>
                </a:cubicBezTo>
                <a:lnTo>
                  <a:pt x="69483" y="97277"/>
                </a:lnTo>
                <a:lnTo>
                  <a:pt x="69483" y="78748"/>
                </a:lnTo>
                <a:lnTo>
                  <a:pt x="62535" y="78748"/>
                </a:lnTo>
                <a:cubicBezTo>
                  <a:pt x="58684" y="78748"/>
                  <a:pt x="55587" y="75650"/>
                  <a:pt x="55587" y="71799"/>
                </a:cubicBezTo>
                <a:cubicBezTo>
                  <a:pt x="55587" y="67949"/>
                  <a:pt x="58684" y="64851"/>
                  <a:pt x="62535" y="6485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2"/>
          <p:cNvSpPr/>
          <p:nvPr/>
        </p:nvSpPr>
        <p:spPr>
          <a:xfrm>
            <a:off x="7734865" y="5608075"/>
            <a:ext cx="3966700" cy="96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7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works:</a:t>
            </a:r>
            <a:r>
              <a:rPr lang="en-US" sz="1167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Ropes divide large text into smaller pieces stored in tree nodes. Instead of moving large blocks of memory, operations simply rearrange tree nodes, making the system much faster for large-scale text manipulation.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0" y="0"/>
                </a:moveTo>
                <a:lnTo>
                  <a:pt x="76200" y="0"/>
                </a:lnTo>
                <a:lnTo>
                  <a:pt x="76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47700"/>
            <a:ext cx="3381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1049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 Viewer Processing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2117727"/>
            <a:ext cx="2724150" cy="2419350"/>
          </a:xfrm>
          <a:custGeom>
            <a:avLst/>
            <a:gdLst/>
            <a:ahLst/>
            <a:cxnLst/>
            <a:rect l="l" t="t" r="r" b="b"/>
            <a:pathLst>
              <a:path w="2724150" h="2419350">
                <a:moveTo>
                  <a:pt x="76210" y="0"/>
                </a:moveTo>
                <a:lnTo>
                  <a:pt x="2647940" y="0"/>
                </a:lnTo>
                <a:cubicBezTo>
                  <a:pt x="2690030" y="0"/>
                  <a:pt x="2724150" y="34120"/>
                  <a:pt x="2724150" y="76210"/>
                </a:cubicBezTo>
                <a:lnTo>
                  <a:pt x="2724150" y="2343140"/>
                </a:lnTo>
                <a:cubicBezTo>
                  <a:pt x="2724150" y="2385230"/>
                  <a:pt x="2690030" y="2419350"/>
                  <a:pt x="264794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 w="25400">
            <a:solidFill>
              <a:srgbClr val="FFC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450" y="22796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8" name="Shape 6"/>
          <p:cNvSpPr/>
          <p:nvPr/>
        </p:nvSpPr>
        <p:spPr>
          <a:xfrm>
            <a:off x="697706" y="241300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123950" y="2374902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Source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889252"/>
            <a:ext cx="2400300" cy="685800"/>
          </a:xfrm>
          <a:custGeom>
            <a:avLst/>
            <a:gdLst/>
            <a:ahLst/>
            <a:cxnLst/>
            <a:rect l="l" t="t" r="r" b="b"/>
            <a:pathLst>
              <a:path w="2400300" h="685800">
                <a:moveTo>
                  <a:pt x="76199" y="0"/>
                </a:moveTo>
                <a:lnTo>
                  <a:pt x="2324101" y="0"/>
                </a:lnTo>
                <a:cubicBezTo>
                  <a:pt x="2366184" y="0"/>
                  <a:pt x="2400300" y="34116"/>
                  <a:pt x="2400300" y="76199"/>
                </a:cubicBezTo>
                <a:lnTo>
                  <a:pt x="2400300" y="609601"/>
                </a:lnTo>
                <a:cubicBezTo>
                  <a:pt x="2400300" y="651684"/>
                  <a:pt x="2366184" y="685800"/>
                  <a:pt x="2324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6750" y="300355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Logs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750" y="327025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journalctl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3689352"/>
            <a:ext cx="2400300" cy="685800"/>
          </a:xfrm>
          <a:custGeom>
            <a:avLst/>
            <a:gdLst/>
            <a:ahLst/>
            <a:cxnLst/>
            <a:rect l="l" t="t" r="r" b="b"/>
            <a:pathLst>
              <a:path w="2400300" h="685800">
                <a:moveTo>
                  <a:pt x="76199" y="0"/>
                </a:moveTo>
                <a:lnTo>
                  <a:pt x="2324101" y="0"/>
                </a:lnTo>
                <a:cubicBezTo>
                  <a:pt x="2366184" y="0"/>
                  <a:pt x="2400300" y="34116"/>
                  <a:pt x="2400300" y="76199"/>
                </a:cubicBezTo>
                <a:lnTo>
                  <a:pt x="2400300" y="609601"/>
                </a:lnTo>
                <a:cubicBezTo>
                  <a:pt x="2400300" y="651684"/>
                  <a:pt x="2366184" y="685800"/>
                  <a:pt x="23241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6750" y="380365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Command Logs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6750" y="407035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eBPF monitoring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666875" y="46228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Shape 15"/>
          <p:cNvSpPr/>
          <p:nvPr/>
        </p:nvSpPr>
        <p:spPr>
          <a:xfrm>
            <a:off x="3286125" y="2117727"/>
            <a:ext cx="2724150" cy="2419350"/>
          </a:xfrm>
          <a:custGeom>
            <a:avLst/>
            <a:gdLst/>
            <a:ahLst/>
            <a:cxnLst/>
            <a:rect l="l" t="t" r="r" b="b"/>
            <a:pathLst>
              <a:path w="2724150" h="2419350">
                <a:moveTo>
                  <a:pt x="76210" y="0"/>
                </a:moveTo>
                <a:lnTo>
                  <a:pt x="2647940" y="0"/>
                </a:lnTo>
                <a:cubicBezTo>
                  <a:pt x="2690030" y="0"/>
                  <a:pt x="2724150" y="34120"/>
                  <a:pt x="2724150" y="76210"/>
                </a:cubicBezTo>
                <a:lnTo>
                  <a:pt x="2724150" y="2343140"/>
                </a:lnTo>
                <a:cubicBezTo>
                  <a:pt x="2724150" y="2385230"/>
                  <a:pt x="2690030" y="2419350"/>
                  <a:pt x="264794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48050" y="22796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Shape 17"/>
          <p:cNvSpPr/>
          <p:nvPr/>
        </p:nvSpPr>
        <p:spPr>
          <a:xfrm>
            <a:off x="3557588" y="241300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4019550" y="2374902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48050" y="3251202"/>
            <a:ext cx="2400300" cy="762000"/>
          </a:xfrm>
          <a:custGeom>
            <a:avLst/>
            <a:gdLst/>
            <a:ahLst/>
            <a:cxnLst/>
            <a:rect l="l" t="t" r="r" b="b"/>
            <a:pathLst>
              <a:path w="2400300" h="762000">
                <a:moveTo>
                  <a:pt x="76200" y="0"/>
                </a:moveTo>
                <a:lnTo>
                  <a:pt x="2324100" y="0"/>
                </a:lnTo>
                <a:cubicBezTo>
                  <a:pt x="2366156" y="0"/>
                  <a:pt x="2400300" y="34144"/>
                  <a:pt x="2400300" y="76200"/>
                </a:cubicBezTo>
                <a:lnTo>
                  <a:pt x="2400300" y="685800"/>
                </a:lnTo>
                <a:cubicBezTo>
                  <a:pt x="2400300" y="727856"/>
                  <a:pt x="2366156" y="762000"/>
                  <a:pt x="23241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557588" y="3403602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Rope Data Structure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0550" y="3746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91050" y="3746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1550" y="37465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62475" y="46228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Shape 25"/>
          <p:cNvSpPr/>
          <p:nvPr/>
        </p:nvSpPr>
        <p:spPr>
          <a:xfrm>
            <a:off x="6181725" y="2117727"/>
            <a:ext cx="2724150" cy="2419350"/>
          </a:xfrm>
          <a:custGeom>
            <a:avLst/>
            <a:gdLst/>
            <a:ahLst/>
            <a:cxnLst/>
            <a:rect l="l" t="t" r="r" b="b"/>
            <a:pathLst>
              <a:path w="2724150" h="2419350">
                <a:moveTo>
                  <a:pt x="76210" y="0"/>
                </a:moveTo>
                <a:lnTo>
                  <a:pt x="2647940" y="0"/>
                </a:lnTo>
                <a:cubicBezTo>
                  <a:pt x="2690030" y="0"/>
                  <a:pt x="2724150" y="34120"/>
                  <a:pt x="2724150" y="76210"/>
                </a:cubicBezTo>
                <a:lnTo>
                  <a:pt x="2724150" y="2343140"/>
                </a:lnTo>
                <a:cubicBezTo>
                  <a:pt x="2724150" y="2385230"/>
                  <a:pt x="2690030" y="2419350"/>
                  <a:pt x="264794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 w="25400">
            <a:solidFill>
              <a:srgbClr val="5F6B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3650" y="22796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88906" y="241300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96775"/>
                </a:lnTo>
                <a:cubicBezTo>
                  <a:pt x="6734" y="92050"/>
                  <a:pt x="14957" y="89297"/>
                  <a:pt x="23812" y="89297"/>
                </a:cubicBezTo>
                <a:lnTo>
                  <a:pt x="142875" y="89297"/>
                </a:lnTo>
                <a:cubicBezTo>
                  <a:pt x="151730" y="89297"/>
                  <a:pt x="159953" y="92050"/>
                  <a:pt x="166688" y="96775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66688" y="130969"/>
                </a:move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lose/>
                <a:moveTo>
                  <a:pt x="83344" y="142875"/>
                </a:moveTo>
                <a:cubicBezTo>
                  <a:pt x="83344" y="136304"/>
                  <a:pt x="88679" y="130969"/>
                  <a:pt x="95250" y="130969"/>
                </a:cubicBezTo>
                <a:cubicBezTo>
                  <a:pt x="101821" y="130969"/>
                  <a:pt x="107156" y="136304"/>
                  <a:pt x="107156" y="142875"/>
                </a:cubicBezTo>
                <a:cubicBezTo>
                  <a:pt x="107156" y="149446"/>
                  <a:pt x="101821" y="154781"/>
                  <a:pt x="95250" y="154781"/>
                </a:cubicBezTo>
                <a:cubicBezTo>
                  <a:pt x="88679" y="154781"/>
                  <a:pt x="83344" y="149446"/>
                  <a:pt x="83344" y="142875"/>
                </a:cubicBezTo>
                <a:close/>
                <a:moveTo>
                  <a:pt x="130969" y="130969"/>
                </a:moveTo>
                <a:cubicBezTo>
                  <a:pt x="137540" y="130969"/>
                  <a:pt x="142875" y="136304"/>
                  <a:pt x="142875" y="142875"/>
                </a:cubicBez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30" name="Text 28"/>
          <p:cNvSpPr/>
          <p:nvPr/>
        </p:nvSpPr>
        <p:spPr>
          <a:xfrm>
            <a:off x="6915150" y="2374902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43650" y="3213102"/>
            <a:ext cx="2400300" cy="838200"/>
          </a:xfrm>
          <a:custGeom>
            <a:avLst/>
            <a:gdLst/>
            <a:ahLst/>
            <a:cxnLst/>
            <a:rect l="l" t="t" r="r" b="b"/>
            <a:pathLst>
              <a:path w="2400300" h="838200">
                <a:moveTo>
                  <a:pt x="76201" y="0"/>
                </a:moveTo>
                <a:lnTo>
                  <a:pt x="2324099" y="0"/>
                </a:lnTo>
                <a:cubicBezTo>
                  <a:pt x="2366184" y="0"/>
                  <a:pt x="2400300" y="34116"/>
                  <a:pt x="2400300" y="76201"/>
                </a:cubicBezTo>
                <a:lnTo>
                  <a:pt x="2400300" y="761999"/>
                </a:lnTo>
                <a:cubicBezTo>
                  <a:pt x="2400300" y="804084"/>
                  <a:pt x="2366184" y="838200"/>
                  <a:pt x="23240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53188" y="3365502"/>
            <a:ext cx="2181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62713" y="3708402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Forensic Archive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58075" y="4622802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5" name="Shape 33"/>
          <p:cNvSpPr/>
          <p:nvPr/>
        </p:nvSpPr>
        <p:spPr>
          <a:xfrm>
            <a:off x="9077325" y="2117727"/>
            <a:ext cx="2724150" cy="2419350"/>
          </a:xfrm>
          <a:custGeom>
            <a:avLst/>
            <a:gdLst/>
            <a:ahLst/>
            <a:cxnLst/>
            <a:rect l="l" t="t" r="r" b="b"/>
            <a:pathLst>
              <a:path w="2724150" h="2419350">
                <a:moveTo>
                  <a:pt x="76210" y="0"/>
                </a:moveTo>
                <a:lnTo>
                  <a:pt x="2647940" y="0"/>
                </a:lnTo>
                <a:cubicBezTo>
                  <a:pt x="2690030" y="0"/>
                  <a:pt x="2724150" y="34120"/>
                  <a:pt x="2724150" y="76210"/>
                </a:cubicBezTo>
                <a:lnTo>
                  <a:pt x="2724150" y="2343140"/>
                </a:lnTo>
                <a:cubicBezTo>
                  <a:pt x="2724150" y="2385230"/>
                  <a:pt x="2690030" y="2419350"/>
                  <a:pt x="2647940" y="2419350"/>
                </a:cubicBezTo>
                <a:lnTo>
                  <a:pt x="76210" y="2419350"/>
                </a:lnTo>
                <a:cubicBezTo>
                  <a:pt x="34120" y="2419350"/>
                  <a:pt x="0" y="2385230"/>
                  <a:pt x="0" y="23431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39250" y="22796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Shape 35"/>
          <p:cNvSpPr/>
          <p:nvPr/>
        </p:nvSpPr>
        <p:spPr>
          <a:xfrm>
            <a:off x="9372600" y="24130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Text 36"/>
          <p:cNvSpPr/>
          <p:nvPr/>
        </p:nvSpPr>
        <p:spPr>
          <a:xfrm>
            <a:off x="9810750" y="2374902"/>
            <a:ext cx="84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239250" y="3041652"/>
            <a:ext cx="2400300" cy="457200"/>
          </a:xfrm>
          <a:custGeom>
            <a:avLst/>
            <a:gdLst/>
            <a:ahLst/>
            <a:cxnLst/>
            <a:rect l="l" t="t" r="r" b="b"/>
            <a:pathLst>
              <a:path w="2400300" h="457200">
                <a:moveTo>
                  <a:pt x="76202" y="0"/>
                </a:moveTo>
                <a:lnTo>
                  <a:pt x="2324098" y="0"/>
                </a:lnTo>
                <a:cubicBezTo>
                  <a:pt x="2366183" y="0"/>
                  <a:pt x="2400300" y="34117"/>
                  <a:pt x="2400300" y="76202"/>
                </a:cubicBezTo>
                <a:lnTo>
                  <a:pt x="2400300" y="380998"/>
                </a:lnTo>
                <a:cubicBezTo>
                  <a:pt x="2400300" y="423083"/>
                  <a:pt x="2366183" y="457200"/>
                  <a:pt x="23240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353550" y="3155952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UI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39250" y="3613152"/>
            <a:ext cx="2400300" cy="609600"/>
          </a:xfrm>
          <a:custGeom>
            <a:avLst/>
            <a:gdLst/>
            <a:ahLst/>
            <a:cxnLst/>
            <a:rect l="l" t="t" r="r" b="b"/>
            <a:pathLst>
              <a:path w="2400300" h="609600">
                <a:moveTo>
                  <a:pt x="76200" y="0"/>
                </a:moveTo>
                <a:lnTo>
                  <a:pt x="2324100" y="0"/>
                </a:lnTo>
                <a:cubicBezTo>
                  <a:pt x="2366156" y="0"/>
                  <a:pt x="2400300" y="34144"/>
                  <a:pt x="2400300" y="76200"/>
                </a:cubicBezTo>
                <a:lnTo>
                  <a:pt x="2400300" y="533400"/>
                </a:lnTo>
                <a:cubicBezTo>
                  <a:pt x="2400300" y="575456"/>
                  <a:pt x="2366156" y="609600"/>
                  <a:pt x="23241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353550" y="372745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Search &amp; Filter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53550" y="3917952"/>
            <a:ext cx="223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Delete &amp; Archive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175" y="5083177"/>
            <a:ext cx="11426825" cy="806450"/>
          </a:xfrm>
          <a:custGeom>
            <a:avLst/>
            <a:gdLst/>
            <a:ahLst/>
            <a:cxnLst/>
            <a:rect l="l" t="t" r="r" b="b"/>
            <a:pathLst>
              <a:path w="11426825" h="806450">
                <a:moveTo>
                  <a:pt x="76201" y="0"/>
                </a:moveTo>
                <a:lnTo>
                  <a:pt x="11350624" y="0"/>
                </a:lnTo>
                <a:cubicBezTo>
                  <a:pt x="11392708" y="0"/>
                  <a:pt x="11426825" y="34117"/>
                  <a:pt x="11426825" y="76201"/>
                </a:cubicBezTo>
                <a:lnTo>
                  <a:pt x="11426825" y="730249"/>
                </a:lnTo>
                <a:cubicBezTo>
                  <a:pt x="11426825" y="772333"/>
                  <a:pt x="11392708" y="806450"/>
                  <a:pt x="11350624" y="806450"/>
                </a:cubicBezTo>
                <a:lnTo>
                  <a:pt x="76201" y="806450"/>
                </a:lnTo>
                <a:cubicBezTo>
                  <a:pt x="34145" y="806450"/>
                  <a:pt x="0" y="772305"/>
                  <a:pt x="0" y="7302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8800" y="5276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787400" y="5238750"/>
            <a:ext cx="10944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Flow:</a:t>
            </a: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Logs are collected from the Linux system, inserted into the Rope data structure for efficient storage, then displayed in a web-based viewer. Deleted logs are archived into a database for forensic tracking.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863" y="408579"/>
            <a:ext cx="65373" cy="392236"/>
          </a:xfrm>
          <a:custGeom>
            <a:avLst/>
            <a:gdLst/>
            <a:ahLst/>
            <a:cxnLst/>
            <a:rect l="l" t="t" r="r" b="b"/>
            <a:pathLst>
              <a:path w="65373" h="392236">
                <a:moveTo>
                  <a:pt x="0" y="0"/>
                </a:moveTo>
                <a:lnTo>
                  <a:pt x="65373" y="0"/>
                </a:lnTo>
                <a:lnTo>
                  <a:pt x="65373" y="392236"/>
                </a:lnTo>
                <a:lnTo>
                  <a:pt x="0" y="392236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490295" y="326863"/>
            <a:ext cx="2296214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kern="0" spc="5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0295" y="555668"/>
            <a:ext cx="2377930" cy="326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6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Built-in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0295" y="980590"/>
            <a:ext cx="11456558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7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Capabilities of the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587" y="1408236"/>
            <a:ext cx="3707174" cy="2268976"/>
          </a:xfrm>
          <a:custGeom>
            <a:avLst/>
            <a:gdLst/>
            <a:ahLst/>
            <a:cxnLst/>
            <a:rect l="l" t="t" r="r" b="b"/>
            <a:pathLst>
              <a:path w="3707174" h="2268976">
                <a:moveTo>
                  <a:pt x="65369" y="0"/>
                </a:moveTo>
                <a:lnTo>
                  <a:pt x="3641805" y="0"/>
                </a:lnTo>
                <a:cubicBezTo>
                  <a:pt x="3677907" y="0"/>
                  <a:pt x="3707174" y="29267"/>
                  <a:pt x="3707174" y="65369"/>
                </a:cubicBezTo>
                <a:lnTo>
                  <a:pt x="3707174" y="2203607"/>
                </a:lnTo>
                <a:cubicBezTo>
                  <a:pt x="3707174" y="2239709"/>
                  <a:pt x="3677907" y="2268976"/>
                  <a:pt x="3641805" y="2268976"/>
                </a:cubicBezTo>
                <a:lnTo>
                  <a:pt x="65369" y="2268976"/>
                </a:lnTo>
                <a:cubicBezTo>
                  <a:pt x="29267" y="2268976"/>
                  <a:pt x="0" y="2239709"/>
                  <a:pt x="0" y="2203607"/>
                </a:cubicBezTo>
                <a:lnTo>
                  <a:pt x="0" y="65369"/>
                </a:lnTo>
                <a:cubicBezTo>
                  <a:pt x="0" y="29267"/>
                  <a:pt x="29267" y="0"/>
                  <a:pt x="65369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8429" y="1607078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98059" y="0"/>
                </a:moveTo>
                <a:lnTo>
                  <a:pt x="424922" y="0"/>
                </a:lnTo>
                <a:cubicBezTo>
                  <a:pt x="479079" y="0"/>
                  <a:pt x="522981" y="43903"/>
                  <a:pt x="522981" y="98059"/>
                </a:cubicBezTo>
                <a:lnTo>
                  <a:pt x="522981" y="424922"/>
                </a:lnTo>
                <a:cubicBezTo>
                  <a:pt x="522981" y="479079"/>
                  <a:pt x="479079" y="522981"/>
                  <a:pt x="424922" y="522981"/>
                </a:cubicBezTo>
                <a:lnTo>
                  <a:pt x="98059" y="522981"/>
                </a:lnTo>
                <a:cubicBezTo>
                  <a:pt x="43903" y="522981"/>
                  <a:pt x="0" y="479079"/>
                  <a:pt x="0" y="424922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4710" y="1745995"/>
            <a:ext cx="214504" cy="245147"/>
          </a:xfrm>
          <a:custGeom>
            <a:avLst/>
            <a:gdLst/>
            <a:ahLst/>
            <a:cxnLst/>
            <a:rect l="l" t="t" r="r" b="b"/>
            <a:pathLst>
              <a:path w="214504" h="245147">
                <a:moveTo>
                  <a:pt x="162219" y="-4740"/>
                </a:moveTo>
                <a:cubicBezTo>
                  <a:pt x="167916" y="-622"/>
                  <a:pt x="170023" y="6847"/>
                  <a:pt x="167438" y="13359"/>
                </a:cubicBezTo>
                <a:lnTo>
                  <a:pt x="129899" y="107252"/>
                </a:lnTo>
                <a:lnTo>
                  <a:pt x="199182" y="107252"/>
                </a:lnTo>
                <a:cubicBezTo>
                  <a:pt x="205646" y="107252"/>
                  <a:pt x="211392" y="111274"/>
                  <a:pt x="213594" y="117355"/>
                </a:cubicBezTo>
                <a:cubicBezTo>
                  <a:pt x="215797" y="123436"/>
                  <a:pt x="213929" y="130235"/>
                  <a:pt x="208998" y="134352"/>
                </a:cubicBezTo>
                <a:lnTo>
                  <a:pt x="71102" y="249265"/>
                </a:lnTo>
                <a:cubicBezTo>
                  <a:pt x="65692" y="253766"/>
                  <a:pt x="57983" y="254005"/>
                  <a:pt x="52285" y="249888"/>
                </a:cubicBezTo>
                <a:cubicBezTo>
                  <a:pt x="46588" y="245770"/>
                  <a:pt x="44481" y="238301"/>
                  <a:pt x="47066" y="231789"/>
                </a:cubicBezTo>
                <a:lnTo>
                  <a:pt x="84605" y="137895"/>
                </a:lnTo>
                <a:lnTo>
                  <a:pt x="15322" y="137895"/>
                </a:lnTo>
                <a:cubicBezTo>
                  <a:pt x="8858" y="137895"/>
                  <a:pt x="3112" y="133873"/>
                  <a:pt x="910" y="127793"/>
                </a:cubicBezTo>
                <a:cubicBezTo>
                  <a:pt x="-1293" y="121712"/>
                  <a:pt x="575" y="114913"/>
                  <a:pt x="5506" y="110795"/>
                </a:cubicBezTo>
                <a:lnTo>
                  <a:pt x="143402" y="-4118"/>
                </a:lnTo>
                <a:cubicBezTo>
                  <a:pt x="148812" y="-8618"/>
                  <a:pt x="156521" y="-8858"/>
                  <a:pt x="162219" y="-474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1182156" y="1737824"/>
            <a:ext cx="1805920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Log Loading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8429" y="2260805"/>
            <a:ext cx="3374863" cy="78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ingestion of thousands of logs with minimal latency. The Rope structure enables rapid data insertion without memory reallocation overhead.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8429" y="3177383"/>
            <a:ext cx="3309491" cy="5448"/>
          </a:xfrm>
          <a:custGeom>
            <a:avLst/>
            <a:gdLst/>
            <a:ahLst/>
            <a:cxnLst/>
            <a:rect l="l" t="t" r="r" b="b"/>
            <a:pathLst>
              <a:path w="3309491" h="5448">
                <a:moveTo>
                  <a:pt x="0" y="0"/>
                </a:moveTo>
                <a:lnTo>
                  <a:pt x="3309491" y="0"/>
                </a:lnTo>
                <a:lnTo>
                  <a:pt x="3309491" y="5448"/>
                </a:lnTo>
                <a:lnTo>
                  <a:pt x="0" y="5448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4772" y="3327196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757233" y="3310853"/>
            <a:ext cx="1037791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Zero-copy insertion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9774" y="1408236"/>
            <a:ext cx="3707174" cy="2268976"/>
          </a:xfrm>
          <a:custGeom>
            <a:avLst/>
            <a:gdLst/>
            <a:ahLst/>
            <a:cxnLst/>
            <a:rect l="l" t="t" r="r" b="b"/>
            <a:pathLst>
              <a:path w="3707174" h="2268976">
                <a:moveTo>
                  <a:pt x="65369" y="0"/>
                </a:moveTo>
                <a:lnTo>
                  <a:pt x="3641805" y="0"/>
                </a:lnTo>
                <a:cubicBezTo>
                  <a:pt x="3677907" y="0"/>
                  <a:pt x="3707174" y="29267"/>
                  <a:pt x="3707174" y="65369"/>
                </a:cubicBezTo>
                <a:lnTo>
                  <a:pt x="3707174" y="2203607"/>
                </a:lnTo>
                <a:cubicBezTo>
                  <a:pt x="3707174" y="2239709"/>
                  <a:pt x="3677907" y="2268976"/>
                  <a:pt x="3641805" y="2268976"/>
                </a:cubicBezTo>
                <a:lnTo>
                  <a:pt x="65369" y="2268976"/>
                </a:lnTo>
                <a:cubicBezTo>
                  <a:pt x="29267" y="2268976"/>
                  <a:pt x="0" y="2239709"/>
                  <a:pt x="0" y="2203607"/>
                </a:cubicBezTo>
                <a:lnTo>
                  <a:pt x="0" y="65369"/>
                </a:lnTo>
                <a:cubicBezTo>
                  <a:pt x="0" y="29267"/>
                  <a:pt x="29267" y="0"/>
                  <a:pt x="65369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8616" y="1607078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98059" y="0"/>
                </a:moveTo>
                <a:lnTo>
                  <a:pt x="424922" y="0"/>
                </a:lnTo>
                <a:cubicBezTo>
                  <a:pt x="479079" y="0"/>
                  <a:pt x="522981" y="43903"/>
                  <a:pt x="522981" y="98059"/>
                </a:cubicBezTo>
                <a:lnTo>
                  <a:pt x="522981" y="424922"/>
                </a:lnTo>
                <a:cubicBezTo>
                  <a:pt x="522981" y="479079"/>
                  <a:pt x="479079" y="522981"/>
                  <a:pt x="424922" y="522981"/>
                </a:cubicBezTo>
                <a:lnTo>
                  <a:pt x="98059" y="522981"/>
                </a:lnTo>
                <a:cubicBezTo>
                  <a:pt x="43903" y="522981"/>
                  <a:pt x="0" y="479079"/>
                  <a:pt x="0" y="424922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64254" y="1745995"/>
            <a:ext cx="275791" cy="245147"/>
          </a:xfrm>
          <a:custGeom>
            <a:avLst/>
            <a:gdLst/>
            <a:ahLst/>
            <a:cxnLst/>
            <a:rect l="l" t="t" r="r" b="b"/>
            <a:pathLst>
              <a:path w="275791" h="245147">
                <a:moveTo>
                  <a:pt x="137895" y="15322"/>
                </a:moveTo>
                <a:cubicBezTo>
                  <a:pt x="99208" y="15322"/>
                  <a:pt x="68230" y="32942"/>
                  <a:pt x="45678" y="53913"/>
                </a:cubicBezTo>
                <a:cubicBezTo>
                  <a:pt x="23270" y="74741"/>
                  <a:pt x="8283" y="99591"/>
                  <a:pt x="1149" y="116684"/>
                </a:cubicBezTo>
                <a:cubicBezTo>
                  <a:pt x="-431" y="120467"/>
                  <a:pt x="-431" y="124680"/>
                  <a:pt x="1149" y="128463"/>
                </a:cubicBezTo>
                <a:cubicBezTo>
                  <a:pt x="8283" y="145556"/>
                  <a:pt x="23270" y="170454"/>
                  <a:pt x="45678" y="191234"/>
                </a:cubicBezTo>
                <a:cubicBezTo>
                  <a:pt x="68230" y="212158"/>
                  <a:pt x="99208" y="229826"/>
                  <a:pt x="137895" y="229826"/>
                </a:cubicBezTo>
                <a:cubicBezTo>
                  <a:pt x="176583" y="229826"/>
                  <a:pt x="207561" y="212206"/>
                  <a:pt x="230113" y="191234"/>
                </a:cubicBezTo>
                <a:cubicBezTo>
                  <a:pt x="252521" y="170406"/>
                  <a:pt x="267508" y="145556"/>
                  <a:pt x="274642" y="128463"/>
                </a:cubicBezTo>
                <a:cubicBezTo>
                  <a:pt x="276222" y="124680"/>
                  <a:pt x="276222" y="120467"/>
                  <a:pt x="274642" y="116684"/>
                </a:cubicBezTo>
                <a:cubicBezTo>
                  <a:pt x="267508" y="99591"/>
                  <a:pt x="252521" y="74693"/>
                  <a:pt x="230113" y="53913"/>
                </a:cubicBezTo>
                <a:cubicBezTo>
                  <a:pt x="207561" y="32990"/>
                  <a:pt x="176583" y="15322"/>
                  <a:pt x="137895" y="15322"/>
                </a:cubicBezTo>
                <a:close/>
                <a:moveTo>
                  <a:pt x="68948" y="122574"/>
                </a:moveTo>
                <a:cubicBezTo>
                  <a:pt x="68948" y="84520"/>
                  <a:pt x="99842" y="53626"/>
                  <a:pt x="137895" y="53626"/>
                </a:cubicBezTo>
                <a:cubicBezTo>
                  <a:pt x="175949" y="53626"/>
                  <a:pt x="206843" y="84520"/>
                  <a:pt x="206843" y="122574"/>
                </a:cubicBezTo>
                <a:cubicBezTo>
                  <a:pt x="206843" y="160627"/>
                  <a:pt x="175949" y="191521"/>
                  <a:pt x="137895" y="191521"/>
                </a:cubicBezTo>
                <a:cubicBezTo>
                  <a:pt x="99842" y="191521"/>
                  <a:pt x="68948" y="160627"/>
                  <a:pt x="68948" y="122574"/>
                </a:cubicBezTo>
                <a:close/>
                <a:moveTo>
                  <a:pt x="137895" y="91930"/>
                </a:moveTo>
                <a:cubicBezTo>
                  <a:pt x="137895" y="108832"/>
                  <a:pt x="124154" y="122574"/>
                  <a:pt x="107252" y="122574"/>
                </a:cubicBezTo>
                <a:cubicBezTo>
                  <a:pt x="101746" y="122574"/>
                  <a:pt x="96575" y="121137"/>
                  <a:pt x="92074" y="118552"/>
                </a:cubicBezTo>
                <a:cubicBezTo>
                  <a:pt x="91595" y="123771"/>
                  <a:pt x="92026" y="129133"/>
                  <a:pt x="93462" y="134448"/>
                </a:cubicBezTo>
                <a:cubicBezTo>
                  <a:pt x="100022" y="158963"/>
                  <a:pt x="125255" y="173518"/>
                  <a:pt x="149770" y="166959"/>
                </a:cubicBezTo>
                <a:cubicBezTo>
                  <a:pt x="174285" y="160399"/>
                  <a:pt x="188840" y="135166"/>
                  <a:pt x="182281" y="110652"/>
                </a:cubicBezTo>
                <a:cubicBezTo>
                  <a:pt x="176439" y="88770"/>
                  <a:pt x="155707" y="74837"/>
                  <a:pt x="133873" y="76752"/>
                </a:cubicBezTo>
                <a:cubicBezTo>
                  <a:pt x="136411" y="81205"/>
                  <a:pt x="137895" y="86376"/>
                  <a:pt x="137895" y="9193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5092343" y="1737824"/>
            <a:ext cx="1446370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Monitoring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8616" y="2260805"/>
            <a:ext cx="3374863" cy="78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monitoring using eBPF and system logs. Capture system events as they happen with minimal performance impact.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8616" y="3177383"/>
            <a:ext cx="3309491" cy="5448"/>
          </a:xfrm>
          <a:custGeom>
            <a:avLst/>
            <a:gdLst/>
            <a:ahLst/>
            <a:cxnLst/>
            <a:rect l="l" t="t" r="r" b="b"/>
            <a:pathLst>
              <a:path w="3309491" h="5448">
                <a:moveTo>
                  <a:pt x="0" y="0"/>
                </a:moveTo>
                <a:lnTo>
                  <a:pt x="3309491" y="0"/>
                </a:lnTo>
                <a:lnTo>
                  <a:pt x="3309491" y="5448"/>
                </a:lnTo>
                <a:lnTo>
                  <a:pt x="0" y="5448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54959" y="3327196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7421" y="3310853"/>
            <a:ext cx="849845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eBPF integration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0046" y="1408236"/>
            <a:ext cx="3707174" cy="2268976"/>
          </a:xfrm>
          <a:custGeom>
            <a:avLst/>
            <a:gdLst/>
            <a:ahLst/>
            <a:cxnLst/>
            <a:rect l="l" t="t" r="r" b="b"/>
            <a:pathLst>
              <a:path w="3707174" h="2268976">
                <a:moveTo>
                  <a:pt x="65369" y="0"/>
                </a:moveTo>
                <a:lnTo>
                  <a:pt x="3641805" y="0"/>
                </a:lnTo>
                <a:cubicBezTo>
                  <a:pt x="3677907" y="0"/>
                  <a:pt x="3707174" y="29267"/>
                  <a:pt x="3707174" y="65369"/>
                </a:cubicBezTo>
                <a:lnTo>
                  <a:pt x="3707174" y="2203607"/>
                </a:lnTo>
                <a:cubicBezTo>
                  <a:pt x="3707174" y="2239709"/>
                  <a:pt x="3677907" y="2268976"/>
                  <a:pt x="3641805" y="2268976"/>
                </a:cubicBezTo>
                <a:lnTo>
                  <a:pt x="65369" y="2268976"/>
                </a:lnTo>
                <a:cubicBezTo>
                  <a:pt x="29267" y="2268976"/>
                  <a:pt x="0" y="2239709"/>
                  <a:pt x="0" y="2203607"/>
                </a:cubicBezTo>
                <a:lnTo>
                  <a:pt x="0" y="65369"/>
                </a:lnTo>
                <a:cubicBezTo>
                  <a:pt x="0" y="29267"/>
                  <a:pt x="29267" y="0"/>
                  <a:pt x="65369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48888" y="1607078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98059" y="0"/>
                </a:moveTo>
                <a:lnTo>
                  <a:pt x="424922" y="0"/>
                </a:lnTo>
                <a:cubicBezTo>
                  <a:pt x="479079" y="0"/>
                  <a:pt x="522981" y="43903"/>
                  <a:pt x="522981" y="98059"/>
                </a:cubicBezTo>
                <a:lnTo>
                  <a:pt x="522981" y="424922"/>
                </a:lnTo>
                <a:cubicBezTo>
                  <a:pt x="522981" y="479079"/>
                  <a:pt x="479079" y="522981"/>
                  <a:pt x="424922" y="522981"/>
                </a:cubicBezTo>
                <a:lnTo>
                  <a:pt x="98059" y="522981"/>
                </a:lnTo>
                <a:cubicBezTo>
                  <a:pt x="43903" y="522981"/>
                  <a:pt x="0" y="479079"/>
                  <a:pt x="0" y="424922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89849" y="1745995"/>
            <a:ext cx="245147" cy="245147"/>
          </a:xfrm>
          <a:custGeom>
            <a:avLst/>
            <a:gdLst/>
            <a:ahLst/>
            <a:cxnLst/>
            <a:rect l="l" t="t" r="r" b="b"/>
            <a:pathLst>
              <a:path w="245147" h="245147">
                <a:moveTo>
                  <a:pt x="0" y="34474"/>
                </a:moveTo>
                <a:cubicBezTo>
                  <a:pt x="0" y="28154"/>
                  <a:pt x="5123" y="22983"/>
                  <a:pt x="11491" y="22983"/>
                </a:cubicBezTo>
                <a:lnTo>
                  <a:pt x="34474" y="22983"/>
                </a:lnTo>
                <a:cubicBezTo>
                  <a:pt x="40842" y="22983"/>
                  <a:pt x="45965" y="28106"/>
                  <a:pt x="45965" y="34474"/>
                </a:cubicBezTo>
                <a:lnTo>
                  <a:pt x="45965" y="84269"/>
                </a:lnTo>
                <a:lnTo>
                  <a:pt x="57456" y="84269"/>
                </a:lnTo>
                <a:cubicBezTo>
                  <a:pt x="63825" y="84269"/>
                  <a:pt x="68948" y="89393"/>
                  <a:pt x="68948" y="95761"/>
                </a:cubicBezTo>
                <a:cubicBezTo>
                  <a:pt x="68948" y="102129"/>
                  <a:pt x="63825" y="107252"/>
                  <a:pt x="57456" y="107252"/>
                </a:cubicBezTo>
                <a:lnTo>
                  <a:pt x="11491" y="107252"/>
                </a:lnTo>
                <a:cubicBezTo>
                  <a:pt x="5123" y="107252"/>
                  <a:pt x="0" y="102129"/>
                  <a:pt x="0" y="95761"/>
                </a:cubicBezTo>
                <a:cubicBezTo>
                  <a:pt x="0" y="89393"/>
                  <a:pt x="5123" y="84269"/>
                  <a:pt x="11491" y="84269"/>
                </a:cubicBezTo>
                <a:lnTo>
                  <a:pt x="22983" y="84269"/>
                </a:lnTo>
                <a:lnTo>
                  <a:pt x="22983" y="45965"/>
                </a:lnTo>
                <a:lnTo>
                  <a:pt x="11491" y="45965"/>
                </a:lnTo>
                <a:cubicBezTo>
                  <a:pt x="5123" y="45965"/>
                  <a:pt x="0" y="40842"/>
                  <a:pt x="0" y="34474"/>
                </a:cubicBezTo>
                <a:close/>
                <a:moveTo>
                  <a:pt x="14556" y="144216"/>
                </a:moveTo>
                <a:cubicBezTo>
                  <a:pt x="20014" y="140098"/>
                  <a:pt x="26669" y="137895"/>
                  <a:pt x="33516" y="137895"/>
                </a:cubicBezTo>
                <a:lnTo>
                  <a:pt x="35862" y="137895"/>
                </a:lnTo>
                <a:cubicBezTo>
                  <a:pt x="51998" y="137895"/>
                  <a:pt x="65117" y="151015"/>
                  <a:pt x="65117" y="167150"/>
                </a:cubicBezTo>
                <a:cubicBezTo>
                  <a:pt x="65117" y="176535"/>
                  <a:pt x="60617" y="185297"/>
                  <a:pt x="53051" y="190803"/>
                </a:cubicBezTo>
                <a:lnTo>
                  <a:pt x="41560" y="199182"/>
                </a:lnTo>
                <a:lnTo>
                  <a:pt x="57456" y="199182"/>
                </a:lnTo>
                <a:cubicBezTo>
                  <a:pt x="63825" y="199182"/>
                  <a:pt x="68948" y="204306"/>
                  <a:pt x="68948" y="210674"/>
                </a:cubicBezTo>
                <a:cubicBezTo>
                  <a:pt x="68948" y="217042"/>
                  <a:pt x="63825" y="222165"/>
                  <a:pt x="57456" y="222165"/>
                </a:cubicBezTo>
                <a:lnTo>
                  <a:pt x="14029" y="222165"/>
                </a:lnTo>
                <a:cubicBezTo>
                  <a:pt x="6272" y="222165"/>
                  <a:pt x="0" y="215893"/>
                  <a:pt x="0" y="208136"/>
                </a:cubicBezTo>
                <a:cubicBezTo>
                  <a:pt x="0" y="203635"/>
                  <a:pt x="2155" y="199422"/>
                  <a:pt x="5794" y="196788"/>
                </a:cubicBezTo>
                <a:lnTo>
                  <a:pt x="39549" y="172226"/>
                </a:lnTo>
                <a:cubicBezTo>
                  <a:pt x="41177" y="171029"/>
                  <a:pt x="42135" y="169161"/>
                  <a:pt x="42135" y="167150"/>
                </a:cubicBezTo>
                <a:cubicBezTo>
                  <a:pt x="42135" y="163703"/>
                  <a:pt x="39310" y="160878"/>
                  <a:pt x="35862" y="160878"/>
                </a:cubicBezTo>
                <a:lnTo>
                  <a:pt x="33516" y="160878"/>
                </a:lnTo>
                <a:cubicBezTo>
                  <a:pt x="31649" y="160878"/>
                  <a:pt x="29829" y="161500"/>
                  <a:pt x="28345" y="162602"/>
                </a:cubicBezTo>
                <a:lnTo>
                  <a:pt x="18386" y="170071"/>
                </a:lnTo>
                <a:cubicBezTo>
                  <a:pt x="13311" y="173901"/>
                  <a:pt x="6129" y="172848"/>
                  <a:pt x="2298" y="167773"/>
                </a:cubicBezTo>
                <a:cubicBezTo>
                  <a:pt x="-1532" y="162697"/>
                  <a:pt x="-479" y="155515"/>
                  <a:pt x="4597" y="151685"/>
                </a:cubicBezTo>
                <a:lnTo>
                  <a:pt x="14556" y="144216"/>
                </a:lnTo>
                <a:close/>
                <a:moveTo>
                  <a:pt x="107252" y="30643"/>
                </a:moveTo>
                <a:lnTo>
                  <a:pt x="229826" y="30643"/>
                </a:lnTo>
                <a:cubicBezTo>
                  <a:pt x="238301" y="30643"/>
                  <a:pt x="245147" y="37490"/>
                  <a:pt x="245147" y="45965"/>
                </a:cubicBezTo>
                <a:cubicBezTo>
                  <a:pt x="245147" y="54440"/>
                  <a:pt x="238301" y="61287"/>
                  <a:pt x="229826" y="61287"/>
                </a:cubicBezTo>
                <a:lnTo>
                  <a:pt x="107252" y="61287"/>
                </a:lnTo>
                <a:cubicBezTo>
                  <a:pt x="98777" y="61287"/>
                  <a:pt x="91930" y="54440"/>
                  <a:pt x="91930" y="45965"/>
                </a:cubicBezTo>
                <a:cubicBezTo>
                  <a:pt x="91930" y="37490"/>
                  <a:pt x="98777" y="30643"/>
                  <a:pt x="107252" y="30643"/>
                </a:cubicBezTo>
                <a:close/>
                <a:moveTo>
                  <a:pt x="107252" y="107252"/>
                </a:moveTo>
                <a:lnTo>
                  <a:pt x="229826" y="107252"/>
                </a:lnTo>
                <a:cubicBezTo>
                  <a:pt x="238301" y="107252"/>
                  <a:pt x="245147" y="114099"/>
                  <a:pt x="245147" y="122574"/>
                </a:cubicBezTo>
                <a:cubicBezTo>
                  <a:pt x="245147" y="131049"/>
                  <a:pt x="238301" y="137895"/>
                  <a:pt x="229826" y="137895"/>
                </a:cubicBezTo>
                <a:lnTo>
                  <a:pt x="107252" y="137895"/>
                </a:lnTo>
                <a:cubicBezTo>
                  <a:pt x="98777" y="137895"/>
                  <a:pt x="91930" y="131049"/>
                  <a:pt x="91930" y="122574"/>
                </a:cubicBezTo>
                <a:cubicBezTo>
                  <a:pt x="91930" y="114099"/>
                  <a:pt x="98777" y="107252"/>
                  <a:pt x="107252" y="107252"/>
                </a:cubicBezTo>
                <a:close/>
                <a:moveTo>
                  <a:pt x="107252" y="183861"/>
                </a:moveTo>
                <a:lnTo>
                  <a:pt x="229826" y="183861"/>
                </a:lnTo>
                <a:cubicBezTo>
                  <a:pt x="238301" y="183861"/>
                  <a:pt x="245147" y="190707"/>
                  <a:pt x="245147" y="199182"/>
                </a:cubicBezTo>
                <a:cubicBezTo>
                  <a:pt x="245147" y="207657"/>
                  <a:pt x="238301" y="214504"/>
                  <a:pt x="229826" y="214504"/>
                </a:cubicBezTo>
                <a:lnTo>
                  <a:pt x="107252" y="214504"/>
                </a:lnTo>
                <a:cubicBezTo>
                  <a:pt x="98777" y="214504"/>
                  <a:pt x="91930" y="207657"/>
                  <a:pt x="91930" y="199182"/>
                </a:cubicBezTo>
                <a:cubicBezTo>
                  <a:pt x="91930" y="190707"/>
                  <a:pt x="98777" y="183861"/>
                  <a:pt x="107252" y="18386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Text 23"/>
          <p:cNvSpPr/>
          <p:nvPr/>
        </p:nvSpPr>
        <p:spPr>
          <a:xfrm>
            <a:off x="9002615" y="1737824"/>
            <a:ext cx="1568944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Viewing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48888" y="2260805"/>
            <a:ext cx="3374863" cy="784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last N logs instantly. Tree-based indexing allows O(log N) retrieval of any log segment regardless of total size.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48888" y="3177383"/>
            <a:ext cx="3309491" cy="5448"/>
          </a:xfrm>
          <a:custGeom>
            <a:avLst/>
            <a:gdLst/>
            <a:ahLst/>
            <a:cxnLst/>
            <a:rect l="l" t="t" r="r" b="b"/>
            <a:pathLst>
              <a:path w="3309491" h="5448">
                <a:moveTo>
                  <a:pt x="0" y="0"/>
                </a:moveTo>
                <a:lnTo>
                  <a:pt x="3309491" y="0"/>
                </a:lnTo>
                <a:lnTo>
                  <a:pt x="3309491" y="5448"/>
                </a:lnTo>
                <a:lnTo>
                  <a:pt x="0" y="5448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65231" y="3327196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8577693" y="3310853"/>
            <a:ext cx="907046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O(log N) retrieval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29587" y="3874693"/>
            <a:ext cx="3707174" cy="2056515"/>
          </a:xfrm>
          <a:custGeom>
            <a:avLst/>
            <a:gdLst/>
            <a:ahLst/>
            <a:cxnLst/>
            <a:rect l="l" t="t" r="r" b="b"/>
            <a:pathLst>
              <a:path w="3707174" h="2056515">
                <a:moveTo>
                  <a:pt x="65377" y="0"/>
                </a:moveTo>
                <a:lnTo>
                  <a:pt x="3641798" y="0"/>
                </a:lnTo>
                <a:cubicBezTo>
                  <a:pt x="3677904" y="0"/>
                  <a:pt x="3707174" y="29270"/>
                  <a:pt x="3707174" y="65377"/>
                </a:cubicBezTo>
                <a:lnTo>
                  <a:pt x="3707174" y="1991138"/>
                </a:lnTo>
                <a:cubicBezTo>
                  <a:pt x="3707174" y="2027245"/>
                  <a:pt x="3677904" y="2056515"/>
                  <a:pt x="3641798" y="2056515"/>
                </a:cubicBezTo>
                <a:lnTo>
                  <a:pt x="65377" y="2056515"/>
                </a:lnTo>
                <a:cubicBezTo>
                  <a:pt x="29270" y="2056515"/>
                  <a:pt x="0" y="2027245"/>
                  <a:pt x="0" y="1991138"/>
                </a:cubicBezTo>
                <a:lnTo>
                  <a:pt x="0" y="65377"/>
                </a:lnTo>
                <a:cubicBezTo>
                  <a:pt x="0" y="29294"/>
                  <a:pt x="29294" y="0"/>
                  <a:pt x="65377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8429" y="4073534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98059" y="0"/>
                </a:moveTo>
                <a:lnTo>
                  <a:pt x="424922" y="0"/>
                </a:lnTo>
                <a:cubicBezTo>
                  <a:pt x="479079" y="0"/>
                  <a:pt x="522981" y="43903"/>
                  <a:pt x="522981" y="98059"/>
                </a:cubicBezTo>
                <a:lnTo>
                  <a:pt x="522981" y="424922"/>
                </a:lnTo>
                <a:cubicBezTo>
                  <a:pt x="522981" y="479079"/>
                  <a:pt x="479079" y="522981"/>
                  <a:pt x="424922" y="522981"/>
                </a:cubicBezTo>
                <a:lnTo>
                  <a:pt x="98059" y="522981"/>
                </a:lnTo>
                <a:cubicBezTo>
                  <a:pt x="43903" y="522981"/>
                  <a:pt x="0" y="479079"/>
                  <a:pt x="0" y="424922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84710" y="4212450"/>
            <a:ext cx="214504" cy="245147"/>
          </a:xfrm>
          <a:custGeom>
            <a:avLst/>
            <a:gdLst/>
            <a:ahLst/>
            <a:cxnLst/>
            <a:rect l="l" t="t" r="r" b="b"/>
            <a:pathLst>
              <a:path w="214504" h="245147">
                <a:moveTo>
                  <a:pt x="61287" y="0"/>
                </a:moveTo>
                <a:cubicBezTo>
                  <a:pt x="69762" y="0"/>
                  <a:pt x="76609" y="6847"/>
                  <a:pt x="76609" y="15322"/>
                </a:cubicBezTo>
                <a:lnTo>
                  <a:pt x="76609" y="30643"/>
                </a:lnTo>
                <a:lnTo>
                  <a:pt x="137895" y="30643"/>
                </a:lnTo>
                <a:lnTo>
                  <a:pt x="137895" y="15322"/>
                </a:lnTo>
                <a:cubicBezTo>
                  <a:pt x="137895" y="6847"/>
                  <a:pt x="144742" y="0"/>
                  <a:pt x="153217" y="0"/>
                </a:cubicBezTo>
                <a:cubicBezTo>
                  <a:pt x="161692" y="0"/>
                  <a:pt x="168539" y="6847"/>
                  <a:pt x="168539" y="15322"/>
                </a:cubicBezTo>
                <a:lnTo>
                  <a:pt x="168539" y="30643"/>
                </a:lnTo>
                <a:lnTo>
                  <a:pt x="183861" y="30643"/>
                </a:lnTo>
                <a:cubicBezTo>
                  <a:pt x="200762" y="30643"/>
                  <a:pt x="214504" y="44385"/>
                  <a:pt x="214504" y="61287"/>
                </a:cubicBezTo>
                <a:lnTo>
                  <a:pt x="214504" y="199182"/>
                </a:lnTo>
                <a:cubicBezTo>
                  <a:pt x="214504" y="216084"/>
                  <a:pt x="200762" y="229826"/>
                  <a:pt x="183861" y="229826"/>
                </a:cubicBezTo>
                <a:lnTo>
                  <a:pt x="30643" y="229826"/>
                </a:lnTo>
                <a:cubicBezTo>
                  <a:pt x="13742" y="229826"/>
                  <a:pt x="0" y="216084"/>
                  <a:pt x="0" y="199182"/>
                </a:cubicBezTo>
                <a:lnTo>
                  <a:pt x="0" y="61287"/>
                </a:lnTo>
                <a:cubicBezTo>
                  <a:pt x="0" y="44385"/>
                  <a:pt x="13742" y="30643"/>
                  <a:pt x="30643" y="30643"/>
                </a:cubicBezTo>
                <a:lnTo>
                  <a:pt x="45965" y="30643"/>
                </a:lnTo>
                <a:lnTo>
                  <a:pt x="45965" y="15322"/>
                </a:lnTo>
                <a:cubicBezTo>
                  <a:pt x="45965" y="6847"/>
                  <a:pt x="52812" y="0"/>
                  <a:pt x="61287" y="0"/>
                </a:cubicBezTo>
                <a:close/>
                <a:moveTo>
                  <a:pt x="30643" y="114913"/>
                </a:moveTo>
                <a:lnTo>
                  <a:pt x="30643" y="130235"/>
                </a:lnTo>
                <a:cubicBezTo>
                  <a:pt x="30643" y="134448"/>
                  <a:pt x="34091" y="137895"/>
                  <a:pt x="38304" y="137895"/>
                </a:cubicBezTo>
                <a:lnTo>
                  <a:pt x="53626" y="137895"/>
                </a:lnTo>
                <a:cubicBezTo>
                  <a:pt x="57839" y="137895"/>
                  <a:pt x="61287" y="134448"/>
                  <a:pt x="61287" y="130235"/>
                </a:cubicBezTo>
                <a:lnTo>
                  <a:pt x="61287" y="114913"/>
                </a:lnTo>
                <a:cubicBezTo>
                  <a:pt x="61287" y="110699"/>
                  <a:pt x="57839" y="107252"/>
                  <a:pt x="53626" y="107252"/>
                </a:cubicBezTo>
                <a:lnTo>
                  <a:pt x="38304" y="107252"/>
                </a:lnTo>
                <a:cubicBezTo>
                  <a:pt x="34091" y="107252"/>
                  <a:pt x="30643" y="110699"/>
                  <a:pt x="30643" y="114913"/>
                </a:cubicBezTo>
                <a:close/>
                <a:moveTo>
                  <a:pt x="91930" y="114913"/>
                </a:moveTo>
                <a:lnTo>
                  <a:pt x="91930" y="130235"/>
                </a:lnTo>
                <a:cubicBezTo>
                  <a:pt x="91930" y="134448"/>
                  <a:pt x="95378" y="137895"/>
                  <a:pt x="99591" y="137895"/>
                </a:cubicBezTo>
                <a:lnTo>
                  <a:pt x="114913" y="137895"/>
                </a:lnTo>
                <a:cubicBezTo>
                  <a:pt x="119126" y="137895"/>
                  <a:pt x="122574" y="134448"/>
                  <a:pt x="122574" y="130235"/>
                </a:cubicBezTo>
                <a:lnTo>
                  <a:pt x="122574" y="114913"/>
                </a:lnTo>
                <a:cubicBezTo>
                  <a:pt x="122574" y="110699"/>
                  <a:pt x="119126" y="107252"/>
                  <a:pt x="114913" y="107252"/>
                </a:cubicBezTo>
                <a:lnTo>
                  <a:pt x="99591" y="107252"/>
                </a:lnTo>
                <a:cubicBezTo>
                  <a:pt x="95378" y="107252"/>
                  <a:pt x="91930" y="110699"/>
                  <a:pt x="91930" y="114913"/>
                </a:cubicBezTo>
                <a:close/>
                <a:moveTo>
                  <a:pt x="160878" y="107252"/>
                </a:moveTo>
                <a:cubicBezTo>
                  <a:pt x="156665" y="107252"/>
                  <a:pt x="153217" y="110699"/>
                  <a:pt x="153217" y="114913"/>
                </a:cubicBezTo>
                <a:lnTo>
                  <a:pt x="153217" y="130235"/>
                </a:lnTo>
                <a:cubicBezTo>
                  <a:pt x="153217" y="134448"/>
                  <a:pt x="156665" y="137895"/>
                  <a:pt x="160878" y="137895"/>
                </a:cubicBezTo>
                <a:lnTo>
                  <a:pt x="176200" y="137895"/>
                </a:lnTo>
                <a:cubicBezTo>
                  <a:pt x="180413" y="137895"/>
                  <a:pt x="183861" y="134448"/>
                  <a:pt x="183861" y="130235"/>
                </a:cubicBezTo>
                <a:lnTo>
                  <a:pt x="183861" y="114913"/>
                </a:lnTo>
                <a:cubicBezTo>
                  <a:pt x="183861" y="110699"/>
                  <a:pt x="180413" y="107252"/>
                  <a:pt x="176200" y="107252"/>
                </a:cubicBezTo>
                <a:lnTo>
                  <a:pt x="160878" y="107252"/>
                </a:lnTo>
                <a:close/>
                <a:moveTo>
                  <a:pt x="30643" y="176200"/>
                </a:moveTo>
                <a:lnTo>
                  <a:pt x="30643" y="191521"/>
                </a:lnTo>
                <a:cubicBezTo>
                  <a:pt x="30643" y="195735"/>
                  <a:pt x="34091" y="199182"/>
                  <a:pt x="38304" y="199182"/>
                </a:cubicBezTo>
                <a:lnTo>
                  <a:pt x="53626" y="199182"/>
                </a:lnTo>
                <a:cubicBezTo>
                  <a:pt x="57839" y="199182"/>
                  <a:pt x="61287" y="195735"/>
                  <a:pt x="61287" y="191521"/>
                </a:cubicBezTo>
                <a:lnTo>
                  <a:pt x="61287" y="176200"/>
                </a:lnTo>
                <a:cubicBezTo>
                  <a:pt x="61287" y="171986"/>
                  <a:pt x="57839" y="168539"/>
                  <a:pt x="53626" y="168539"/>
                </a:cubicBezTo>
                <a:lnTo>
                  <a:pt x="38304" y="168539"/>
                </a:lnTo>
                <a:cubicBezTo>
                  <a:pt x="34091" y="168539"/>
                  <a:pt x="30643" y="171986"/>
                  <a:pt x="30643" y="176200"/>
                </a:cubicBezTo>
                <a:close/>
                <a:moveTo>
                  <a:pt x="99591" y="168539"/>
                </a:moveTo>
                <a:cubicBezTo>
                  <a:pt x="95378" y="168539"/>
                  <a:pt x="91930" y="171986"/>
                  <a:pt x="91930" y="176200"/>
                </a:cubicBezTo>
                <a:lnTo>
                  <a:pt x="91930" y="191521"/>
                </a:lnTo>
                <a:cubicBezTo>
                  <a:pt x="91930" y="195735"/>
                  <a:pt x="95378" y="199182"/>
                  <a:pt x="99591" y="199182"/>
                </a:cubicBezTo>
                <a:lnTo>
                  <a:pt x="114913" y="199182"/>
                </a:lnTo>
                <a:cubicBezTo>
                  <a:pt x="119126" y="199182"/>
                  <a:pt x="122574" y="195735"/>
                  <a:pt x="122574" y="191521"/>
                </a:cubicBezTo>
                <a:lnTo>
                  <a:pt x="122574" y="176200"/>
                </a:lnTo>
                <a:cubicBezTo>
                  <a:pt x="122574" y="171986"/>
                  <a:pt x="119126" y="168539"/>
                  <a:pt x="114913" y="168539"/>
                </a:cubicBezTo>
                <a:lnTo>
                  <a:pt x="99591" y="168539"/>
                </a:lnTo>
                <a:close/>
                <a:moveTo>
                  <a:pt x="153217" y="176200"/>
                </a:moveTo>
                <a:lnTo>
                  <a:pt x="153217" y="191521"/>
                </a:lnTo>
                <a:cubicBezTo>
                  <a:pt x="153217" y="195735"/>
                  <a:pt x="156665" y="199182"/>
                  <a:pt x="160878" y="199182"/>
                </a:cubicBezTo>
                <a:lnTo>
                  <a:pt x="176200" y="199182"/>
                </a:lnTo>
                <a:cubicBezTo>
                  <a:pt x="180413" y="199182"/>
                  <a:pt x="183861" y="195735"/>
                  <a:pt x="183861" y="191521"/>
                </a:cubicBezTo>
                <a:lnTo>
                  <a:pt x="183861" y="176200"/>
                </a:lnTo>
                <a:cubicBezTo>
                  <a:pt x="183861" y="171986"/>
                  <a:pt x="180413" y="168539"/>
                  <a:pt x="176200" y="168539"/>
                </a:cubicBezTo>
                <a:lnTo>
                  <a:pt x="160878" y="168539"/>
                </a:lnTo>
                <a:cubicBezTo>
                  <a:pt x="156665" y="168539"/>
                  <a:pt x="153217" y="171986"/>
                  <a:pt x="153217" y="17620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3" name="Text 31"/>
          <p:cNvSpPr/>
          <p:nvPr/>
        </p:nvSpPr>
        <p:spPr>
          <a:xfrm>
            <a:off x="1182156" y="4204279"/>
            <a:ext cx="1258424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 Filtering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8429" y="4727260"/>
            <a:ext cx="3374863" cy="57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 logs for specific timestamps with precision. Time-range queries execute efficiently using tree traversal.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8429" y="5431379"/>
            <a:ext cx="3309491" cy="5448"/>
          </a:xfrm>
          <a:custGeom>
            <a:avLst/>
            <a:gdLst/>
            <a:ahLst/>
            <a:cxnLst/>
            <a:rect l="l" t="t" r="r" b="b"/>
            <a:pathLst>
              <a:path w="3309491" h="5448">
                <a:moveTo>
                  <a:pt x="0" y="0"/>
                </a:moveTo>
                <a:lnTo>
                  <a:pt x="3309491" y="0"/>
                </a:lnTo>
                <a:lnTo>
                  <a:pt x="3309491" y="5448"/>
                </a:lnTo>
                <a:lnTo>
                  <a:pt x="0" y="5448"/>
                </a:lnTo>
                <a:lnTo>
                  <a:pt x="0" y="0"/>
                </a:ln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4772" y="5581190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7" name="Text 35"/>
          <p:cNvSpPr/>
          <p:nvPr/>
        </p:nvSpPr>
        <p:spPr>
          <a:xfrm>
            <a:off x="757233" y="5564847"/>
            <a:ext cx="751786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 queries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39774" y="3874693"/>
            <a:ext cx="7621362" cy="2056515"/>
          </a:xfrm>
          <a:custGeom>
            <a:avLst/>
            <a:gdLst/>
            <a:ahLst/>
            <a:cxnLst/>
            <a:rect l="l" t="t" r="r" b="b"/>
            <a:pathLst>
              <a:path w="7621362" h="2056515">
                <a:moveTo>
                  <a:pt x="65377" y="0"/>
                </a:moveTo>
                <a:lnTo>
                  <a:pt x="7555985" y="0"/>
                </a:lnTo>
                <a:cubicBezTo>
                  <a:pt x="7592092" y="0"/>
                  <a:pt x="7621362" y="29270"/>
                  <a:pt x="7621362" y="65377"/>
                </a:cubicBezTo>
                <a:lnTo>
                  <a:pt x="7621362" y="1991138"/>
                </a:lnTo>
                <a:cubicBezTo>
                  <a:pt x="7621362" y="2027245"/>
                  <a:pt x="7592092" y="2056515"/>
                  <a:pt x="7555985" y="2056515"/>
                </a:cubicBezTo>
                <a:lnTo>
                  <a:pt x="65377" y="2056515"/>
                </a:lnTo>
                <a:cubicBezTo>
                  <a:pt x="29270" y="2056515"/>
                  <a:pt x="0" y="2027245"/>
                  <a:pt x="0" y="1991138"/>
                </a:cubicBezTo>
                <a:lnTo>
                  <a:pt x="0" y="65377"/>
                </a:lnTo>
                <a:cubicBezTo>
                  <a:pt x="0" y="29294"/>
                  <a:pt x="29294" y="0"/>
                  <a:pt x="65377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8616" y="4073534"/>
            <a:ext cx="522981" cy="522981"/>
          </a:xfrm>
          <a:custGeom>
            <a:avLst/>
            <a:gdLst/>
            <a:ahLst/>
            <a:cxnLst/>
            <a:rect l="l" t="t" r="r" b="b"/>
            <a:pathLst>
              <a:path w="522981" h="522981">
                <a:moveTo>
                  <a:pt x="98059" y="0"/>
                </a:moveTo>
                <a:lnTo>
                  <a:pt x="424922" y="0"/>
                </a:lnTo>
                <a:cubicBezTo>
                  <a:pt x="479079" y="0"/>
                  <a:pt x="522981" y="43903"/>
                  <a:pt x="522981" y="98059"/>
                </a:cubicBezTo>
                <a:lnTo>
                  <a:pt x="522981" y="424922"/>
                </a:lnTo>
                <a:cubicBezTo>
                  <a:pt x="522981" y="479079"/>
                  <a:pt x="479079" y="522981"/>
                  <a:pt x="424922" y="522981"/>
                </a:cubicBezTo>
                <a:lnTo>
                  <a:pt x="98059" y="522981"/>
                </a:lnTo>
                <a:cubicBezTo>
                  <a:pt x="43903" y="522981"/>
                  <a:pt x="0" y="479079"/>
                  <a:pt x="0" y="424922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79576" y="4212450"/>
            <a:ext cx="245147" cy="245147"/>
          </a:xfrm>
          <a:custGeom>
            <a:avLst/>
            <a:gdLst/>
            <a:ahLst/>
            <a:cxnLst/>
            <a:rect l="l" t="t" r="r" b="b"/>
            <a:pathLst>
              <a:path w="245147" h="245147">
                <a:moveTo>
                  <a:pt x="122574" y="0"/>
                </a:moveTo>
                <a:cubicBezTo>
                  <a:pt x="124776" y="0"/>
                  <a:pt x="126979" y="479"/>
                  <a:pt x="128990" y="1389"/>
                </a:cubicBezTo>
                <a:lnTo>
                  <a:pt x="219196" y="39645"/>
                </a:lnTo>
                <a:cubicBezTo>
                  <a:pt x="229730" y="44098"/>
                  <a:pt x="237582" y="54488"/>
                  <a:pt x="237534" y="67033"/>
                </a:cubicBezTo>
                <a:cubicBezTo>
                  <a:pt x="237295" y="114530"/>
                  <a:pt x="217760" y="201433"/>
                  <a:pt x="135262" y="240934"/>
                </a:cubicBezTo>
                <a:cubicBezTo>
                  <a:pt x="127266" y="244764"/>
                  <a:pt x="117977" y="244764"/>
                  <a:pt x="109981" y="240934"/>
                </a:cubicBezTo>
                <a:cubicBezTo>
                  <a:pt x="27435" y="201433"/>
                  <a:pt x="7948" y="114530"/>
                  <a:pt x="7709" y="67033"/>
                </a:cubicBezTo>
                <a:cubicBezTo>
                  <a:pt x="7661" y="54488"/>
                  <a:pt x="15513" y="44098"/>
                  <a:pt x="26047" y="39645"/>
                </a:cubicBezTo>
                <a:lnTo>
                  <a:pt x="116206" y="1389"/>
                </a:lnTo>
                <a:cubicBezTo>
                  <a:pt x="118217" y="479"/>
                  <a:pt x="120371" y="0"/>
                  <a:pt x="122574" y="0"/>
                </a:cubicBezTo>
                <a:close/>
                <a:moveTo>
                  <a:pt x="122574" y="31984"/>
                </a:moveTo>
                <a:lnTo>
                  <a:pt x="122574" y="213020"/>
                </a:lnTo>
                <a:cubicBezTo>
                  <a:pt x="188649" y="181036"/>
                  <a:pt x="206412" y="110173"/>
                  <a:pt x="206843" y="67751"/>
                </a:cubicBezTo>
                <a:lnTo>
                  <a:pt x="122574" y="32032"/>
                </a:lnTo>
                <a:lnTo>
                  <a:pt x="122574" y="32032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1" name="Text 39"/>
          <p:cNvSpPr/>
          <p:nvPr/>
        </p:nvSpPr>
        <p:spPr>
          <a:xfrm>
            <a:off x="5092343" y="4204279"/>
            <a:ext cx="1601630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4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Forensic Deletion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38616" y="4727260"/>
            <a:ext cx="7289051" cy="57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Deleted logs stored securely in database for compliance and audit trails. Every deletion is tracked with timestamps and user information, ensuring complete forensic traceability.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38616" y="5431379"/>
            <a:ext cx="7223678" cy="5448"/>
          </a:xfrm>
          <a:custGeom>
            <a:avLst/>
            <a:gdLst/>
            <a:ahLst/>
            <a:cxnLst/>
            <a:rect l="l" t="t" r="r" b="b"/>
            <a:pathLst>
              <a:path w="7223678" h="5448">
                <a:moveTo>
                  <a:pt x="0" y="0"/>
                </a:moveTo>
                <a:lnTo>
                  <a:pt x="7223678" y="0"/>
                </a:lnTo>
                <a:lnTo>
                  <a:pt x="7223678" y="5448"/>
                </a:lnTo>
                <a:lnTo>
                  <a:pt x="0" y="5448"/>
                </a:lnTo>
                <a:lnTo>
                  <a:pt x="0" y="0"/>
                </a:ln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454959" y="5581190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5" name="Text 43"/>
          <p:cNvSpPr/>
          <p:nvPr/>
        </p:nvSpPr>
        <p:spPr>
          <a:xfrm>
            <a:off x="4667421" y="5564847"/>
            <a:ext cx="531153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57749" y="5581190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7" name="Text 45"/>
          <p:cNvSpPr/>
          <p:nvPr/>
        </p:nvSpPr>
        <p:spPr>
          <a:xfrm>
            <a:off x="5570210" y="5564847"/>
            <a:ext cx="956075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ready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83248" y="5581190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86925" y="54315"/>
                </a:moveTo>
                <a:lnTo>
                  <a:pt x="66496" y="87002"/>
                </a:lnTo>
                <a:cubicBezTo>
                  <a:pt x="65424" y="88713"/>
                  <a:pt x="63585" y="89785"/>
                  <a:pt x="61568" y="89887"/>
                </a:cubicBezTo>
                <a:cubicBezTo>
                  <a:pt x="59550" y="89990"/>
                  <a:pt x="57610" y="89070"/>
                  <a:pt x="56409" y="87436"/>
                </a:cubicBezTo>
                <a:lnTo>
                  <a:pt x="44152" y="71093"/>
                </a:lnTo>
                <a:cubicBezTo>
                  <a:pt x="42109" y="68386"/>
                  <a:pt x="42671" y="64555"/>
                  <a:pt x="45378" y="62513"/>
                </a:cubicBezTo>
                <a:cubicBezTo>
                  <a:pt x="48085" y="60470"/>
                  <a:pt x="51915" y="61032"/>
                  <a:pt x="53958" y="63738"/>
                </a:cubicBezTo>
                <a:lnTo>
                  <a:pt x="60853" y="72931"/>
                </a:lnTo>
                <a:lnTo>
                  <a:pt x="76532" y="47829"/>
                </a:lnTo>
                <a:cubicBezTo>
                  <a:pt x="78320" y="44969"/>
                  <a:pt x="82099" y="44075"/>
                  <a:pt x="84984" y="45889"/>
                </a:cubicBezTo>
                <a:cubicBezTo>
                  <a:pt x="87870" y="47702"/>
                  <a:pt x="88738" y="51455"/>
                  <a:pt x="86925" y="5434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9" name="Text 47"/>
          <p:cNvSpPr/>
          <p:nvPr/>
        </p:nvSpPr>
        <p:spPr>
          <a:xfrm>
            <a:off x="6895709" y="5564847"/>
            <a:ext cx="792643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archive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9587" y="6063314"/>
            <a:ext cx="11527378" cy="463056"/>
          </a:xfrm>
          <a:custGeom>
            <a:avLst/>
            <a:gdLst/>
            <a:ahLst/>
            <a:cxnLst/>
            <a:rect l="l" t="t" r="r" b="b"/>
            <a:pathLst>
              <a:path w="11527378" h="463056">
                <a:moveTo>
                  <a:pt x="65374" y="0"/>
                </a:moveTo>
                <a:lnTo>
                  <a:pt x="11462004" y="0"/>
                </a:lnTo>
                <a:cubicBezTo>
                  <a:pt x="11498109" y="0"/>
                  <a:pt x="11527378" y="29269"/>
                  <a:pt x="11527378" y="65374"/>
                </a:cubicBezTo>
                <a:lnTo>
                  <a:pt x="11527378" y="397682"/>
                </a:lnTo>
                <a:cubicBezTo>
                  <a:pt x="11527378" y="433787"/>
                  <a:pt x="11498109" y="463056"/>
                  <a:pt x="11462004" y="463056"/>
                </a:cubicBezTo>
                <a:lnTo>
                  <a:pt x="65374" y="463056"/>
                </a:lnTo>
                <a:cubicBezTo>
                  <a:pt x="29269" y="463056"/>
                  <a:pt x="0" y="433787"/>
                  <a:pt x="0" y="397682"/>
                </a:cubicBezTo>
                <a:lnTo>
                  <a:pt x="0" y="65374"/>
                </a:lnTo>
                <a:cubicBezTo>
                  <a:pt x="0" y="29293"/>
                  <a:pt x="29293" y="0"/>
                  <a:pt x="65374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5743" y="6224022"/>
            <a:ext cx="98059" cy="130745"/>
          </a:xfrm>
          <a:custGeom>
            <a:avLst/>
            <a:gdLst/>
            <a:ahLst/>
            <a:cxnLst/>
            <a:rect l="l" t="t" r="r" b="b"/>
            <a:pathLst>
              <a:path w="98059" h="130745">
                <a:moveTo>
                  <a:pt x="74796" y="98059"/>
                </a:moveTo>
                <a:cubicBezTo>
                  <a:pt x="76660" y="92364"/>
                  <a:pt x="80388" y="87206"/>
                  <a:pt x="84601" y="82763"/>
                </a:cubicBezTo>
                <a:cubicBezTo>
                  <a:pt x="92952" y="73978"/>
                  <a:pt x="98059" y="62104"/>
                  <a:pt x="98059" y="49029"/>
                </a:cubicBezTo>
                <a:cubicBezTo>
                  <a:pt x="98059" y="21961"/>
                  <a:pt x="76098" y="0"/>
                  <a:pt x="49029" y="0"/>
                </a:cubicBezTo>
                <a:cubicBezTo>
                  <a:pt x="21961" y="0"/>
                  <a:pt x="0" y="21961"/>
                  <a:pt x="0" y="49029"/>
                </a:cubicBezTo>
                <a:cubicBezTo>
                  <a:pt x="0" y="62104"/>
                  <a:pt x="5107" y="73978"/>
                  <a:pt x="13458" y="82763"/>
                </a:cubicBezTo>
                <a:cubicBezTo>
                  <a:pt x="17671" y="87206"/>
                  <a:pt x="21425" y="92364"/>
                  <a:pt x="23263" y="98059"/>
                </a:cubicBezTo>
                <a:lnTo>
                  <a:pt x="74770" y="98059"/>
                </a:lnTo>
                <a:close/>
                <a:moveTo>
                  <a:pt x="73544" y="110316"/>
                </a:moveTo>
                <a:lnTo>
                  <a:pt x="24515" y="110316"/>
                </a:lnTo>
                <a:lnTo>
                  <a:pt x="24515" y="114402"/>
                </a:lnTo>
                <a:cubicBezTo>
                  <a:pt x="24515" y="125689"/>
                  <a:pt x="33657" y="134831"/>
                  <a:pt x="44944" y="134831"/>
                </a:cubicBezTo>
                <a:lnTo>
                  <a:pt x="53115" y="134831"/>
                </a:lnTo>
                <a:cubicBezTo>
                  <a:pt x="64402" y="134831"/>
                  <a:pt x="73544" y="125689"/>
                  <a:pt x="73544" y="114402"/>
                </a:cubicBezTo>
                <a:lnTo>
                  <a:pt x="73544" y="110316"/>
                </a:lnTo>
                <a:close/>
                <a:moveTo>
                  <a:pt x="46987" y="28601"/>
                </a:moveTo>
                <a:cubicBezTo>
                  <a:pt x="36823" y="28601"/>
                  <a:pt x="28601" y="36823"/>
                  <a:pt x="28601" y="46987"/>
                </a:cubicBezTo>
                <a:cubicBezTo>
                  <a:pt x="28601" y="50383"/>
                  <a:pt x="25868" y="53115"/>
                  <a:pt x="22472" y="53115"/>
                </a:cubicBezTo>
                <a:cubicBezTo>
                  <a:pt x="19076" y="53115"/>
                  <a:pt x="16343" y="50383"/>
                  <a:pt x="16343" y="46987"/>
                </a:cubicBezTo>
                <a:cubicBezTo>
                  <a:pt x="16343" y="30056"/>
                  <a:pt x="30056" y="16343"/>
                  <a:pt x="46987" y="16343"/>
                </a:cubicBezTo>
                <a:cubicBezTo>
                  <a:pt x="50383" y="16343"/>
                  <a:pt x="53115" y="19076"/>
                  <a:pt x="53115" y="22472"/>
                </a:cubicBezTo>
                <a:cubicBezTo>
                  <a:pt x="53115" y="25868"/>
                  <a:pt x="50383" y="28601"/>
                  <a:pt x="46987" y="2860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52" name="Text 50"/>
          <p:cNvSpPr/>
          <p:nvPr/>
        </p:nvSpPr>
        <p:spPr>
          <a:xfrm>
            <a:off x="668551" y="6196784"/>
            <a:ext cx="11120318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</a:t>
            </a:r>
            <a:r>
              <a:rPr lang="en-US" sz="102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supports real-time monitoring, fast log viewing, and forensic deletion tracking. These features make it useful for security analysis and system debugging.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17500"/>
            <a:ext cx="215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MECHANICS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6250" y="539750"/>
            <a:ext cx="2230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6250" y="920750"/>
            <a:ext cx="11477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Rope Operations: Split and Merge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146" y="1272645"/>
            <a:ext cx="5741458" cy="2947459"/>
          </a:xfrm>
          <a:custGeom>
            <a:avLst/>
            <a:gdLst/>
            <a:ahLst/>
            <a:cxnLst/>
            <a:rect l="l" t="t" r="r" b="b"/>
            <a:pathLst>
              <a:path w="5680604" h="2894542">
                <a:moveTo>
                  <a:pt x="63506" y="0"/>
                </a:moveTo>
                <a:lnTo>
                  <a:pt x="5617098" y="0"/>
                </a:lnTo>
                <a:cubicBezTo>
                  <a:pt x="5652171" y="0"/>
                  <a:pt x="5680604" y="28433"/>
                  <a:pt x="5680604" y="63506"/>
                </a:cubicBezTo>
                <a:lnTo>
                  <a:pt x="5680604" y="2831035"/>
                </a:lnTo>
                <a:cubicBezTo>
                  <a:pt x="5680604" y="2866109"/>
                  <a:pt x="5652171" y="2894542"/>
                  <a:pt x="5617098" y="2894542"/>
                </a:cubicBezTo>
                <a:lnTo>
                  <a:pt x="63506" y="2894542"/>
                </a:lnTo>
                <a:cubicBezTo>
                  <a:pt x="28433" y="2894542"/>
                  <a:pt x="0" y="2866109"/>
                  <a:pt x="0" y="2831035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5354" y="14657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95250"/>
                </a:moveTo>
                <a:lnTo>
                  <a:pt x="56741" y="109947"/>
                </a:lnTo>
                <a:cubicBezTo>
                  <a:pt x="52053" y="108124"/>
                  <a:pt x="46992" y="107156"/>
                  <a:pt x="41672" y="107156"/>
                </a:cubicBezTo>
                <a:cubicBezTo>
                  <a:pt x="18641" y="107156"/>
                  <a:pt x="0" y="125797"/>
                  <a:pt x="0" y="148828"/>
                </a:cubicBezTo>
                <a:cubicBezTo>
                  <a:pt x="0" y="171859"/>
                  <a:pt x="18641" y="190500"/>
                  <a:pt x="41672" y="190500"/>
                </a:cubicBezTo>
                <a:cubicBezTo>
                  <a:pt x="64703" y="190500"/>
                  <a:pt x="83344" y="171859"/>
                  <a:pt x="83344" y="148828"/>
                </a:cubicBezTo>
                <a:cubicBezTo>
                  <a:pt x="83344" y="143508"/>
                  <a:pt x="82339" y="138447"/>
                  <a:pt x="80553" y="133759"/>
                </a:cubicBezTo>
                <a:lnTo>
                  <a:pt x="185738" y="28575"/>
                </a:lnTo>
                <a:cubicBezTo>
                  <a:pt x="188379" y="25933"/>
                  <a:pt x="188379" y="21692"/>
                  <a:pt x="185738" y="19050"/>
                </a:cubicBezTo>
                <a:cubicBezTo>
                  <a:pt x="175208" y="8520"/>
                  <a:pt x="158167" y="8520"/>
                  <a:pt x="147637" y="19050"/>
                </a:cubicBezTo>
                <a:lnTo>
                  <a:pt x="95250" y="71438"/>
                </a:lnTo>
                <a:lnTo>
                  <a:pt x="80553" y="56741"/>
                </a:lnTo>
                <a:cubicBezTo>
                  <a:pt x="82376" y="52053"/>
                  <a:pt x="83344" y="46992"/>
                  <a:pt x="83344" y="41672"/>
                </a:cubicBezTo>
                <a:cubicBezTo>
                  <a:pt x="83344" y="18641"/>
                  <a:pt x="64703" y="0"/>
                  <a:pt x="41672" y="0"/>
                </a:cubicBezTo>
                <a:cubicBezTo>
                  <a:pt x="18641" y="0"/>
                  <a:pt x="0" y="18641"/>
                  <a:pt x="0" y="41672"/>
                </a:cubicBezTo>
                <a:cubicBezTo>
                  <a:pt x="0" y="64703"/>
                  <a:pt x="18641" y="83344"/>
                  <a:pt x="41672" y="83344"/>
                </a:cubicBezTo>
                <a:cubicBezTo>
                  <a:pt x="46992" y="83344"/>
                  <a:pt x="52053" y="82339"/>
                  <a:pt x="56741" y="80553"/>
                </a:cubicBezTo>
                <a:lnTo>
                  <a:pt x="71438" y="95250"/>
                </a:lnTo>
                <a:close/>
                <a:moveTo>
                  <a:pt x="107863" y="131676"/>
                </a:moveTo>
                <a:lnTo>
                  <a:pt x="147638" y="171450"/>
                </a:lnTo>
                <a:cubicBezTo>
                  <a:pt x="158167" y="181980"/>
                  <a:pt x="175208" y="181980"/>
                  <a:pt x="185738" y="171450"/>
                </a:cubicBezTo>
                <a:cubicBezTo>
                  <a:pt x="188379" y="168808"/>
                  <a:pt x="188379" y="164567"/>
                  <a:pt x="185738" y="161925"/>
                </a:cubicBezTo>
                <a:lnTo>
                  <a:pt x="131676" y="107863"/>
                </a:lnTo>
                <a:lnTo>
                  <a:pt x="107863" y="131676"/>
                </a:lnTo>
                <a:close/>
                <a:moveTo>
                  <a:pt x="23812" y="41672"/>
                </a:moveTo>
                <a:cubicBezTo>
                  <a:pt x="23812" y="31815"/>
                  <a:pt x="31815" y="23812"/>
                  <a:pt x="41672" y="23812"/>
                </a:cubicBezTo>
                <a:cubicBezTo>
                  <a:pt x="51529" y="23812"/>
                  <a:pt x="59531" y="31815"/>
                  <a:pt x="59531" y="41672"/>
                </a:cubicBezTo>
                <a:cubicBezTo>
                  <a:pt x="59531" y="51529"/>
                  <a:pt x="51529" y="59531"/>
                  <a:pt x="41672" y="59531"/>
                </a:cubicBezTo>
                <a:cubicBezTo>
                  <a:pt x="31815" y="59531"/>
                  <a:pt x="23812" y="51529"/>
                  <a:pt x="23812" y="41672"/>
                </a:cubicBezTo>
                <a:close/>
                <a:moveTo>
                  <a:pt x="41672" y="130969"/>
                </a:moveTo>
                <a:cubicBezTo>
                  <a:pt x="51529" y="130969"/>
                  <a:pt x="59531" y="138971"/>
                  <a:pt x="59531" y="148828"/>
                </a:cubicBezTo>
                <a:cubicBezTo>
                  <a:pt x="59531" y="158685"/>
                  <a:pt x="51529" y="166688"/>
                  <a:pt x="41672" y="166688"/>
                </a:cubicBezTo>
                <a:cubicBezTo>
                  <a:pt x="31815" y="166688"/>
                  <a:pt x="23812" y="158685"/>
                  <a:pt x="23812" y="148828"/>
                </a:cubicBezTo>
                <a:cubicBezTo>
                  <a:pt x="23812" y="138971"/>
                  <a:pt x="31815" y="130969"/>
                  <a:pt x="41672" y="13096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Text 6"/>
          <p:cNvSpPr/>
          <p:nvPr/>
        </p:nvSpPr>
        <p:spPr>
          <a:xfrm>
            <a:off x="719667" y="1434044"/>
            <a:ext cx="5214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Operation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1542" y="1815044"/>
            <a:ext cx="54213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Divides the rope at a given position, producing two separate trees. This operation is fundamental for text editing and log segmentation.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542" y="2354794"/>
            <a:ext cx="5357813" cy="1651000"/>
          </a:xfrm>
          <a:custGeom>
            <a:avLst/>
            <a:gdLst/>
            <a:ahLst/>
            <a:cxnLst/>
            <a:rect l="l" t="t" r="r" b="b"/>
            <a:pathLst>
              <a:path w="5357813" h="1651000">
                <a:moveTo>
                  <a:pt x="63497" y="0"/>
                </a:moveTo>
                <a:lnTo>
                  <a:pt x="5294315" y="0"/>
                </a:lnTo>
                <a:cubicBezTo>
                  <a:pt x="5329384" y="0"/>
                  <a:pt x="5357812" y="28429"/>
                  <a:pt x="5357812" y="63497"/>
                </a:cubicBezTo>
                <a:lnTo>
                  <a:pt x="5357813" y="1587503"/>
                </a:lnTo>
                <a:cubicBezTo>
                  <a:pt x="5357812" y="1622571"/>
                  <a:pt x="5329384" y="1651000"/>
                  <a:pt x="5294315" y="1651000"/>
                </a:cubicBezTo>
                <a:lnTo>
                  <a:pt x="63497" y="1651000"/>
                </a:lnTo>
                <a:cubicBezTo>
                  <a:pt x="28429" y="1651000"/>
                  <a:pt x="0" y="1622571"/>
                  <a:pt x="0" y="1587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08542" y="2481794"/>
            <a:ext cx="516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Split at index position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8542" y="2735794"/>
            <a:ext cx="516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CA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</a:t>
            </a:r>
            <a:r>
              <a:rPr lang="en-US" sz="100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</a:t>
            </a: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(tree, index):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5542" y="2926294"/>
            <a:ext cx="504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leftTree ← new Rope()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5542" y="3116794"/>
            <a:ext cx="504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rightTree ← new Rope()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5542" y="3328460"/>
            <a:ext cx="1948822" cy="148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Traverse and split nodes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5542" y="3497794"/>
            <a:ext cx="504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traverseAndSplit(tree.root, index)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5542" y="3688294"/>
            <a:ext cx="504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CA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(leftTree, rightTree)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57296" y="1270000"/>
            <a:ext cx="5829196" cy="3204876"/>
          </a:xfrm>
          <a:custGeom>
            <a:avLst/>
            <a:gdLst/>
            <a:ahLst/>
            <a:cxnLst/>
            <a:rect l="l" t="t" r="r" b="b"/>
            <a:pathLst>
              <a:path w="5680604" h="2894542">
                <a:moveTo>
                  <a:pt x="63506" y="0"/>
                </a:moveTo>
                <a:lnTo>
                  <a:pt x="5617098" y="0"/>
                </a:lnTo>
                <a:cubicBezTo>
                  <a:pt x="5652171" y="0"/>
                  <a:pt x="5680604" y="28433"/>
                  <a:pt x="5680604" y="63506"/>
                </a:cubicBezTo>
                <a:lnTo>
                  <a:pt x="5680604" y="2831035"/>
                </a:lnTo>
                <a:cubicBezTo>
                  <a:pt x="5680604" y="2866109"/>
                  <a:pt x="5652171" y="2894542"/>
                  <a:pt x="5617098" y="2894542"/>
                </a:cubicBezTo>
                <a:lnTo>
                  <a:pt x="63506" y="2894542"/>
                </a:lnTo>
                <a:cubicBezTo>
                  <a:pt x="28433" y="2894542"/>
                  <a:pt x="0" y="2866109"/>
                  <a:pt x="0" y="2831035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0598" y="1463145"/>
            <a:ext cx="219919" cy="210924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6656816" y="1431395"/>
            <a:ext cx="5351349" cy="281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 Operation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8692" y="1812395"/>
            <a:ext cx="5563123" cy="457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two rope trees into one. This enables efficient concatenation without copying large memory blocks.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18692" y="2352145"/>
            <a:ext cx="5497962" cy="1828010"/>
          </a:xfrm>
          <a:custGeom>
            <a:avLst/>
            <a:gdLst/>
            <a:ahLst/>
            <a:cxnLst/>
            <a:rect l="l" t="t" r="r" b="b"/>
            <a:pathLst>
              <a:path w="5357813" h="1651000">
                <a:moveTo>
                  <a:pt x="63497" y="0"/>
                </a:moveTo>
                <a:lnTo>
                  <a:pt x="5294315" y="0"/>
                </a:lnTo>
                <a:cubicBezTo>
                  <a:pt x="5329384" y="0"/>
                  <a:pt x="5357812" y="28429"/>
                  <a:pt x="5357812" y="63497"/>
                </a:cubicBezTo>
                <a:lnTo>
                  <a:pt x="5357813" y="1587503"/>
                </a:lnTo>
                <a:cubicBezTo>
                  <a:pt x="5357812" y="1622571"/>
                  <a:pt x="5329384" y="1651000"/>
                  <a:pt x="5294315" y="1651000"/>
                </a:cubicBezTo>
                <a:lnTo>
                  <a:pt x="63497" y="1651000"/>
                </a:lnTo>
                <a:cubicBezTo>
                  <a:pt x="28429" y="1651000"/>
                  <a:pt x="0" y="1622571"/>
                  <a:pt x="0" y="1587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45692" y="2479145"/>
            <a:ext cx="5302478" cy="21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Concatenate two ropes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5692" y="2733145"/>
            <a:ext cx="5302478" cy="21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CA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</a:t>
            </a:r>
            <a:r>
              <a:rPr lang="en-US" sz="1000" dirty="0">
                <a:solidFill>
                  <a:srgbClr val="4DB6A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merge</a:t>
            </a: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(leftTree, rightTree):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2692" y="2923645"/>
            <a:ext cx="5172156" cy="21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newRoot ← new Node()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2692" y="3114145"/>
            <a:ext cx="5172156" cy="21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newRoot.left ← leftTree.root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2692" y="3304645"/>
            <a:ext cx="5172156" cy="21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newRoot.right ← rightTree.root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2692" y="3495145"/>
            <a:ext cx="5172156" cy="21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newRoot.weight ← leftTree.length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2692" y="3685645"/>
            <a:ext cx="5172156" cy="21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CA2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r>
              <a:rPr lang="en-US" sz="1000" dirty="0">
                <a:solidFill>
                  <a:srgbClr val="E0E0E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new Rope(newRoot)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87783" y="4283604"/>
            <a:ext cx="5741457" cy="2512847"/>
          </a:xfrm>
          <a:custGeom>
            <a:avLst/>
            <a:gdLst/>
            <a:ahLst/>
            <a:cxnLst/>
            <a:rect l="l" t="t" r="r" b="b"/>
            <a:pathLst>
              <a:path w="5680604" h="3593042">
                <a:moveTo>
                  <a:pt x="63489" y="0"/>
                </a:moveTo>
                <a:lnTo>
                  <a:pt x="5617115" y="0"/>
                </a:lnTo>
                <a:cubicBezTo>
                  <a:pt x="5652179" y="0"/>
                  <a:pt x="5680604" y="28425"/>
                  <a:pt x="5680604" y="63489"/>
                </a:cubicBezTo>
                <a:lnTo>
                  <a:pt x="5680604" y="3529553"/>
                </a:lnTo>
                <a:cubicBezTo>
                  <a:pt x="5680604" y="3564617"/>
                  <a:pt x="5652179" y="3593042"/>
                  <a:pt x="5617115" y="3593042"/>
                </a:cubicBezTo>
                <a:lnTo>
                  <a:pt x="63489" y="3593042"/>
                </a:lnTo>
                <a:cubicBezTo>
                  <a:pt x="28425" y="3593042"/>
                  <a:pt x="0" y="3564617"/>
                  <a:pt x="0" y="3529553"/>
                </a:cubicBezTo>
                <a:lnTo>
                  <a:pt x="0" y="63489"/>
                </a:lnTo>
                <a:cubicBezTo>
                  <a:pt x="0" y="28425"/>
                  <a:pt x="28425" y="0"/>
                  <a:pt x="63489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048" y="4474876"/>
            <a:ext cx="3680698" cy="6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-621457" y="5949559"/>
            <a:ext cx="3669952" cy="5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Split</a:t>
            </a:r>
            <a:endParaRPr lang="en-US" sz="16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7816" y="4847880"/>
            <a:ext cx="2151406" cy="1003989"/>
          </a:xfrm>
          <a:prstGeom prst="roundRect">
            <a:avLst>
              <a:gd name="adj" fmla="val 0"/>
            </a:avLst>
          </a:prstGeom>
        </p:spPr>
      </p:pic>
      <p:sp>
        <p:nvSpPr>
          <p:cNvPr id="34" name="Text 31"/>
          <p:cNvSpPr/>
          <p:nvPr/>
        </p:nvSpPr>
        <p:spPr>
          <a:xfrm>
            <a:off x="2523944" y="5964221"/>
            <a:ext cx="3669952" cy="5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Split (at position 3)</a:t>
            </a:r>
            <a:endParaRPr lang="en-US" sz="16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171912" y="4921961"/>
            <a:ext cx="1003989" cy="1003989"/>
          </a:xfrm>
          <a:prstGeom prst="roundRect">
            <a:avLst>
              <a:gd name="adj" fmla="val 0"/>
            </a:avLst>
          </a:prstGeom>
        </p:spPr>
      </p:pic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37162" y="4921961"/>
            <a:ext cx="1003989" cy="1003989"/>
          </a:xfrm>
          <a:prstGeom prst="roundRect">
            <a:avLst>
              <a:gd name="adj" fmla="val 0"/>
            </a:avLst>
          </a:prstGeom>
        </p:spPr>
      </p:pic>
      <p:sp>
        <p:nvSpPr>
          <p:cNvPr id="37" name="Shape 32"/>
          <p:cNvSpPr/>
          <p:nvPr/>
        </p:nvSpPr>
        <p:spPr>
          <a:xfrm>
            <a:off x="6373580" y="4665376"/>
            <a:ext cx="5680604" cy="767292"/>
          </a:xfrm>
          <a:custGeom>
            <a:avLst/>
            <a:gdLst/>
            <a:ahLst/>
            <a:cxnLst/>
            <a:rect l="l" t="t" r="r" b="b"/>
            <a:pathLst>
              <a:path w="5680604" h="767292">
                <a:moveTo>
                  <a:pt x="63501" y="0"/>
                </a:moveTo>
                <a:lnTo>
                  <a:pt x="5617103" y="0"/>
                </a:lnTo>
                <a:cubicBezTo>
                  <a:pt x="5652174" y="0"/>
                  <a:pt x="5680604" y="28430"/>
                  <a:pt x="5680604" y="63501"/>
                </a:cubicBezTo>
                <a:lnTo>
                  <a:pt x="5680604" y="703791"/>
                </a:lnTo>
                <a:cubicBezTo>
                  <a:pt x="5680604" y="738861"/>
                  <a:pt x="5652174" y="767292"/>
                  <a:pt x="5617103" y="767292"/>
                </a:cubicBezTo>
                <a:lnTo>
                  <a:pt x="63501" y="767292"/>
                </a:lnTo>
                <a:cubicBezTo>
                  <a:pt x="28430" y="767292"/>
                  <a:pt x="0" y="738861"/>
                  <a:pt x="0" y="703791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CA28">
              <a:alpha val="10196"/>
            </a:srgbClr>
          </a:solidFill>
          <a:ln w="8467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503226" y="4826771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6630226" y="495377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0" name="Text 35"/>
          <p:cNvSpPr/>
          <p:nvPr/>
        </p:nvSpPr>
        <p:spPr>
          <a:xfrm>
            <a:off x="7074726" y="4795021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7074726" y="5017271"/>
            <a:ext cx="116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CA2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O(log N)</a:t>
            </a:r>
            <a:endParaRPr lang="en-US" sz="1600" dirty="0"/>
          </a:p>
        </p:txBody>
      </p:sp>
      <p:sp>
        <p:nvSpPr>
          <p:cNvPr id="42" name="Shape 37"/>
          <p:cNvSpPr/>
          <p:nvPr/>
        </p:nvSpPr>
        <p:spPr>
          <a:xfrm>
            <a:off x="320146" y="7326315"/>
            <a:ext cx="11554354" cy="449792"/>
          </a:xfrm>
          <a:custGeom>
            <a:avLst/>
            <a:gdLst/>
            <a:ahLst/>
            <a:cxnLst/>
            <a:rect l="l" t="t" r="r" b="b"/>
            <a:pathLst>
              <a:path w="11554354" h="449792">
                <a:moveTo>
                  <a:pt x="63502" y="0"/>
                </a:moveTo>
                <a:lnTo>
                  <a:pt x="11490853" y="0"/>
                </a:lnTo>
                <a:cubicBezTo>
                  <a:pt x="11525924" y="0"/>
                  <a:pt x="11554354" y="28431"/>
                  <a:pt x="11554354" y="63502"/>
                </a:cubicBezTo>
                <a:lnTo>
                  <a:pt x="11554354" y="386290"/>
                </a:lnTo>
                <a:cubicBezTo>
                  <a:pt x="11554354" y="421361"/>
                  <a:pt x="11525924" y="449792"/>
                  <a:pt x="11490853" y="449792"/>
                </a:cubicBezTo>
                <a:lnTo>
                  <a:pt x="63502" y="449792"/>
                </a:lnTo>
                <a:cubicBezTo>
                  <a:pt x="28431" y="449792"/>
                  <a:pt x="0" y="421361"/>
                  <a:pt x="0" y="386290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48229" y="7455960"/>
            <a:ext cx="1116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Note:</a:t>
            </a:r>
            <a:r>
              <a:rPr lang="en-US" sz="10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Split and merge operations allow fast editing of large text blocks. Instead of modifying entire strings, the system simply restructures tree nodes.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472" y="271122"/>
            <a:ext cx="68494" cy="410966"/>
          </a:xfrm>
          <a:custGeom>
            <a:avLst/>
            <a:gdLst/>
            <a:ahLst/>
            <a:cxnLst/>
            <a:rect l="l" t="t" r="r" b="b"/>
            <a:pathLst>
              <a:path w="68494" h="410966">
                <a:moveTo>
                  <a:pt x="0" y="0"/>
                </a:moveTo>
                <a:lnTo>
                  <a:pt x="68494" y="0"/>
                </a:lnTo>
                <a:lnTo>
                  <a:pt x="68494" y="410966"/>
                </a:lnTo>
                <a:lnTo>
                  <a:pt x="0" y="410966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" name="Text 1"/>
          <p:cNvSpPr/>
          <p:nvPr/>
        </p:nvSpPr>
        <p:spPr>
          <a:xfrm>
            <a:off x="513708" y="185504"/>
            <a:ext cx="3125056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kern="0" spc="54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3708" y="425234"/>
            <a:ext cx="3210674" cy="342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7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Benefits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3708" y="836201"/>
            <a:ext cx="11421438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 Compared to Standard Strings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326" y="1215774"/>
            <a:ext cx="5647933" cy="2445820"/>
          </a:xfrm>
          <a:custGeom>
            <a:avLst/>
            <a:gdLst/>
            <a:ahLst/>
            <a:cxnLst/>
            <a:rect l="l" t="t" r="r" b="b"/>
            <a:pathLst>
              <a:path w="5647933" h="2445820">
                <a:moveTo>
                  <a:pt x="68483" y="0"/>
                </a:moveTo>
                <a:lnTo>
                  <a:pt x="5579450" y="0"/>
                </a:lnTo>
                <a:cubicBezTo>
                  <a:pt x="5617272" y="0"/>
                  <a:pt x="5647933" y="30661"/>
                  <a:pt x="5647933" y="68483"/>
                </a:cubicBezTo>
                <a:lnTo>
                  <a:pt x="5647933" y="2377337"/>
                </a:lnTo>
                <a:cubicBezTo>
                  <a:pt x="5647933" y="2415159"/>
                  <a:pt x="5617272" y="2445820"/>
                  <a:pt x="5579450" y="2445820"/>
                </a:cubicBezTo>
                <a:lnTo>
                  <a:pt x="68483" y="2445820"/>
                </a:lnTo>
                <a:cubicBezTo>
                  <a:pt x="30661" y="2445820"/>
                  <a:pt x="0" y="2415159"/>
                  <a:pt x="0" y="2377337"/>
                </a:cubicBezTo>
                <a:lnTo>
                  <a:pt x="0" y="68483"/>
                </a:lnTo>
                <a:cubicBezTo>
                  <a:pt x="0" y="30686"/>
                  <a:pt x="30686" y="0"/>
                  <a:pt x="68483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9416" y="1389866"/>
            <a:ext cx="5402494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 Comparison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774243"/>
              </p:ext>
            </p:extLst>
          </p:nvPr>
        </p:nvGraphicFramePr>
        <p:xfrm>
          <a:off x="519416" y="1800833"/>
          <a:ext cx="5299752" cy="1686676"/>
        </p:xfrm>
        <a:graphic>
          <a:graphicData uri="http://schemas.openxmlformats.org/drawingml/2006/table">
            <a:tbl>
              <a:tblPr/>
              <a:tblGrid>
                <a:gridCol w="2020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6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69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Operation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DB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CA2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DB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4DB6A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Rope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4DB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6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Insertion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DB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DB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O(log 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4DB6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6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Deletion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O(log 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69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Concatenation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E0E0E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O(1)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742" marR="102742" marT="102742" marB="10274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45326" y="3807147"/>
            <a:ext cx="5647933" cy="2060539"/>
          </a:xfrm>
          <a:custGeom>
            <a:avLst/>
            <a:gdLst/>
            <a:ahLst/>
            <a:cxnLst/>
            <a:rect l="l" t="t" r="r" b="b"/>
            <a:pathLst>
              <a:path w="5647933" h="2060539">
                <a:moveTo>
                  <a:pt x="68492" y="0"/>
                </a:moveTo>
                <a:lnTo>
                  <a:pt x="5579440" y="0"/>
                </a:lnTo>
                <a:cubicBezTo>
                  <a:pt x="5617268" y="0"/>
                  <a:pt x="5647933" y="30665"/>
                  <a:pt x="5647933" y="68492"/>
                </a:cubicBezTo>
                <a:lnTo>
                  <a:pt x="5647933" y="1992047"/>
                </a:lnTo>
                <a:cubicBezTo>
                  <a:pt x="5647933" y="2029874"/>
                  <a:pt x="5617268" y="2060539"/>
                  <a:pt x="5579440" y="2060539"/>
                </a:cubicBezTo>
                <a:lnTo>
                  <a:pt x="68492" y="2060539"/>
                </a:lnTo>
                <a:cubicBezTo>
                  <a:pt x="30665" y="2060539"/>
                  <a:pt x="0" y="2029874"/>
                  <a:pt x="0" y="1992047"/>
                </a:cubicBezTo>
                <a:lnTo>
                  <a:pt x="0" y="68492"/>
                </a:lnTo>
                <a:cubicBezTo>
                  <a:pt x="0" y="30665"/>
                  <a:pt x="30665" y="0"/>
                  <a:pt x="68492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9416" y="3981236"/>
            <a:ext cx="5385371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9416" y="4357955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22157" y="4460696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17124" y="17124"/>
                </a:moveTo>
                <a:cubicBezTo>
                  <a:pt x="7679" y="17124"/>
                  <a:pt x="0" y="24802"/>
                  <a:pt x="0" y="34247"/>
                </a:cubicBezTo>
                <a:lnTo>
                  <a:pt x="0" y="36227"/>
                </a:lnTo>
                <a:cubicBezTo>
                  <a:pt x="0" y="38046"/>
                  <a:pt x="1177" y="39598"/>
                  <a:pt x="2702" y="40588"/>
                </a:cubicBezTo>
                <a:cubicBezTo>
                  <a:pt x="6234" y="42889"/>
                  <a:pt x="8562" y="46849"/>
                  <a:pt x="8562" y="51371"/>
                </a:cubicBezTo>
                <a:cubicBezTo>
                  <a:pt x="8562" y="55892"/>
                  <a:pt x="6234" y="59852"/>
                  <a:pt x="2702" y="62153"/>
                </a:cubicBezTo>
                <a:cubicBezTo>
                  <a:pt x="1177" y="63143"/>
                  <a:pt x="0" y="64695"/>
                  <a:pt x="0" y="66514"/>
                </a:cubicBezTo>
                <a:lnTo>
                  <a:pt x="0" y="81337"/>
                </a:lnTo>
                <a:lnTo>
                  <a:pt x="136989" y="81337"/>
                </a:lnTo>
                <a:lnTo>
                  <a:pt x="136989" y="66514"/>
                </a:lnTo>
                <a:cubicBezTo>
                  <a:pt x="136989" y="64695"/>
                  <a:pt x="135812" y="63143"/>
                  <a:pt x="134286" y="62153"/>
                </a:cubicBezTo>
                <a:cubicBezTo>
                  <a:pt x="130755" y="59852"/>
                  <a:pt x="128427" y="55892"/>
                  <a:pt x="128427" y="51371"/>
                </a:cubicBezTo>
                <a:cubicBezTo>
                  <a:pt x="128427" y="46849"/>
                  <a:pt x="130755" y="42889"/>
                  <a:pt x="134286" y="40588"/>
                </a:cubicBezTo>
                <a:cubicBezTo>
                  <a:pt x="135812" y="39598"/>
                  <a:pt x="136989" y="38046"/>
                  <a:pt x="136989" y="36227"/>
                </a:cubicBezTo>
                <a:lnTo>
                  <a:pt x="136989" y="34247"/>
                </a:lnTo>
                <a:cubicBezTo>
                  <a:pt x="136989" y="24802"/>
                  <a:pt x="129310" y="17124"/>
                  <a:pt x="119865" y="17124"/>
                </a:cubicBezTo>
                <a:lnTo>
                  <a:pt x="17124" y="17124"/>
                </a:lnTo>
                <a:close/>
                <a:moveTo>
                  <a:pt x="136989" y="111303"/>
                </a:moveTo>
                <a:lnTo>
                  <a:pt x="136989" y="94180"/>
                </a:lnTo>
                <a:lnTo>
                  <a:pt x="0" y="94180"/>
                </a:lnTo>
                <a:lnTo>
                  <a:pt x="0" y="111303"/>
                </a:lnTo>
                <a:cubicBezTo>
                  <a:pt x="0" y="116039"/>
                  <a:pt x="3826" y="119865"/>
                  <a:pt x="8562" y="119865"/>
                </a:cubicBezTo>
                <a:lnTo>
                  <a:pt x="25685" y="119865"/>
                </a:lnTo>
                <a:lnTo>
                  <a:pt x="25685" y="113444"/>
                </a:lnTo>
                <a:cubicBezTo>
                  <a:pt x="25685" y="109885"/>
                  <a:pt x="28548" y="107022"/>
                  <a:pt x="32107" y="107022"/>
                </a:cubicBezTo>
                <a:cubicBezTo>
                  <a:pt x="35665" y="107022"/>
                  <a:pt x="38528" y="109885"/>
                  <a:pt x="38528" y="113444"/>
                </a:cubicBezTo>
                <a:lnTo>
                  <a:pt x="38528" y="119865"/>
                </a:lnTo>
                <a:lnTo>
                  <a:pt x="62073" y="119865"/>
                </a:lnTo>
                <a:lnTo>
                  <a:pt x="62073" y="113444"/>
                </a:lnTo>
                <a:cubicBezTo>
                  <a:pt x="62073" y="109885"/>
                  <a:pt x="64936" y="107022"/>
                  <a:pt x="68494" y="107022"/>
                </a:cubicBezTo>
                <a:cubicBezTo>
                  <a:pt x="72053" y="107022"/>
                  <a:pt x="74916" y="109885"/>
                  <a:pt x="74916" y="113444"/>
                </a:cubicBezTo>
                <a:lnTo>
                  <a:pt x="74916" y="119865"/>
                </a:lnTo>
                <a:lnTo>
                  <a:pt x="98461" y="119865"/>
                </a:lnTo>
                <a:lnTo>
                  <a:pt x="98461" y="113444"/>
                </a:lnTo>
                <a:cubicBezTo>
                  <a:pt x="98461" y="109885"/>
                  <a:pt x="101324" y="107022"/>
                  <a:pt x="104882" y="107022"/>
                </a:cubicBezTo>
                <a:cubicBezTo>
                  <a:pt x="108441" y="107022"/>
                  <a:pt x="111303" y="109885"/>
                  <a:pt x="111303" y="113444"/>
                </a:cubicBezTo>
                <a:lnTo>
                  <a:pt x="111303" y="119865"/>
                </a:lnTo>
                <a:lnTo>
                  <a:pt x="128427" y="119865"/>
                </a:lnTo>
                <a:cubicBezTo>
                  <a:pt x="133163" y="119865"/>
                  <a:pt x="136989" y="116039"/>
                  <a:pt x="136989" y="111303"/>
                </a:cubicBezTo>
                <a:close/>
                <a:moveTo>
                  <a:pt x="42809" y="42809"/>
                </a:moveTo>
                <a:lnTo>
                  <a:pt x="42809" y="59933"/>
                </a:lnTo>
                <a:cubicBezTo>
                  <a:pt x="42809" y="64668"/>
                  <a:pt x="38983" y="68494"/>
                  <a:pt x="34247" y="68494"/>
                </a:cubicBezTo>
                <a:cubicBezTo>
                  <a:pt x="29511" y="68494"/>
                  <a:pt x="25685" y="64668"/>
                  <a:pt x="25685" y="59933"/>
                </a:cubicBezTo>
                <a:lnTo>
                  <a:pt x="25685" y="42809"/>
                </a:lnTo>
                <a:cubicBezTo>
                  <a:pt x="25685" y="38073"/>
                  <a:pt x="29511" y="34247"/>
                  <a:pt x="34247" y="34247"/>
                </a:cubicBezTo>
                <a:cubicBezTo>
                  <a:pt x="38983" y="34247"/>
                  <a:pt x="42809" y="38073"/>
                  <a:pt x="42809" y="42809"/>
                </a:cubicBezTo>
                <a:close/>
                <a:moveTo>
                  <a:pt x="77056" y="42809"/>
                </a:moveTo>
                <a:lnTo>
                  <a:pt x="77056" y="59933"/>
                </a:lnTo>
                <a:cubicBezTo>
                  <a:pt x="77056" y="64668"/>
                  <a:pt x="73230" y="68494"/>
                  <a:pt x="68494" y="68494"/>
                </a:cubicBezTo>
                <a:cubicBezTo>
                  <a:pt x="63759" y="68494"/>
                  <a:pt x="59933" y="64668"/>
                  <a:pt x="59933" y="59933"/>
                </a:cubicBezTo>
                <a:lnTo>
                  <a:pt x="59933" y="42809"/>
                </a:lnTo>
                <a:cubicBezTo>
                  <a:pt x="59933" y="38073"/>
                  <a:pt x="63759" y="34247"/>
                  <a:pt x="68494" y="34247"/>
                </a:cubicBezTo>
                <a:cubicBezTo>
                  <a:pt x="73230" y="34247"/>
                  <a:pt x="77056" y="38073"/>
                  <a:pt x="77056" y="42809"/>
                </a:cubicBezTo>
                <a:close/>
                <a:moveTo>
                  <a:pt x="111303" y="42809"/>
                </a:moveTo>
                <a:lnTo>
                  <a:pt x="111303" y="59933"/>
                </a:lnTo>
                <a:cubicBezTo>
                  <a:pt x="111303" y="64668"/>
                  <a:pt x="107477" y="68494"/>
                  <a:pt x="102742" y="68494"/>
                </a:cubicBezTo>
                <a:cubicBezTo>
                  <a:pt x="98006" y="68494"/>
                  <a:pt x="94180" y="64668"/>
                  <a:pt x="94180" y="59933"/>
                </a:cubicBezTo>
                <a:lnTo>
                  <a:pt x="94180" y="42809"/>
                </a:lnTo>
                <a:cubicBezTo>
                  <a:pt x="94180" y="38073"/>
                  <a:pt x="98006" y="34247"/>
                  <a:pt x="102742" y="34247"/>
                </a:cubicBezTo>
                <a:cubicBezTo>
                  <a:pt x="107477" y="34247"/>
                  <a:pt x="111303" y="38073"/>
                  <a:pt x="111303" y="4280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0"/>
          <p:cNvSpPr/>
          <p:nvPr/>
        </p:nvSpPr>
        <p:spPr>
          <a:xfrm>
            <a:off x="964629" y="4357955"/>
            <a:ext cx="2508607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Memory Copying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4629" y="4563438"/>
            <a:ext cx="2500045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 restructuring eliminates large block copies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9416" y="4837415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30719" y="4940157"/>
            <a:ext cx="119865" cy="136989"/>
          </a:xfrm>
          <a:custGeom>
            <a:avLst/>
            <a:gdLst/>
            <a:ahLst/>
            <a:cxnLst/>
            <a:rect l="l" t="t" r="r" b="b"/>
            <a:pathLst>
              <a:path w="119865" h="136989">
                <a:moveTo>
                  <a:pt x="90648" y="-2649"/>
                </a:moveTo>
                <a:cubicBezTo>
                  <a:pt x="93832" y="-348"/>
                  <a:pt x="95009" y="3826"/>
                  <a:pt x="93564" y="7465"/>
                </a:cubicBezTo>
                <a:lnTo>
                  <a:pt x="72588" y="59933"/>
                </a:lnTo>
                <a:lnTo>
                  <a:pt x="111303" y="59933"/>
                </a:lnTo>
                <a:cubicBezTo>
                  <a:pt x="114915" y="59933"/>
                  <a:pt x="118126" y="62180"/>
                  <a:pt x="119357" y="65578"/>
                </a:cubicBezTo>
                <a:cubicBezTo>
                  <a:pt x="120588" y="68976"/>
                  <a:pt x="119544" y="72775"/>
                  <a:pt x="116788" y="75076"/>
                </a:cubicBezTo>
                <a:lnTo>
                  <a:pt x="39732" y="139290"/>
                </a:lnTo>
                <a:cubicBezTo>
                  <a:pt x="36709" y="141805"/>
                  <a:pt x="32401" y="141939"/>
                  <a:pt x="29217" y="139638"/>
                </a:cubicBezTo>
                <a:cubicBezTo>
                  <a:pt x="26033" y="137337"/>
                  <a:pt x="24856" y="133163"/>
                  <a:pt x="26301" y="129524"/>
                </a:cubicBezTo>
                <a:lnTo>
                  <a:pt x="47277" y="77056"/>
                </a:lnTo>
                <a:lnTo>
                  <a:pt x="8562" y="77056"/>
                </a:lnTo>
                <a:cubicBezTo>
                  <a:pt x="4950" y="77056"/>
                  <a:pt x="1739" y="74809"/>
                  <a:pt x="508" y="71411"/>
                </a:cubicBezTo>
                <a:cubicBezTo>
                  <a:pt x="-722" y="68013"/>
                  <a:pt x="321" y="64213"/>
                  <a:pt x="3077" y="61912"/>
                </a:cubicBezTo>
                <a:lnTo>
                  <a:pt x="80133" y="-2301"/>
                </a:lnTo>
                <a:cubicBezTo>
                  <a:pt x="83156" y="-4816"/>
                  <a:pt x="87464" y="-4950"/>
                  <a:pt x="90648" y="-2649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4"/>
          <p:cNvSpPr/>
          <p:nvPr/>
        </p:nvSpPr>
        <p:spPr>
          <a:xfrm>
            <a:off x="964629" y="4837415"/>
            <a:ext cx="220038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Editing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4629" y="5042899"/>
            <a:ext cx="219182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Logarithmic time for large text operations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9416" y="5316876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30719" y="5419618"/>
            <a:ext cx="119865" cy="136989"/>
          </a:xfrm>
          <a:custGeom>
            <a:avLst/>
            <a:gdLst/>
            <a:ahLst/>
            <a:cxnLst/>
            <a:rect l="l" t="t" r="r" b="b"/>
            <a:pathLst>
              <a:path w="119865" h="136989">
                <a:moveTo>
                  <a:pt x="44949" y="8562"/>
                </a:moveTo>
                <a:lnTo>
                  <a:pt x="6421" y="8562"/>
                </a:lnTo>
                <a:cubicBezTo>
                  <a:pt x="2863" y="8562"/>
                  <a:pt x="0" y="11425"/>
                  <a:pt x="0" y="14983"/>
                </a:cubicBezTo>
                <a:lnTo>
                  <a:pt x="0" y="53511"/>
                </a:lnTo>
                <a:cubicBezTo>
                  <a:pt x="0" y="56107"/>
                  <a:pt x="1552" y="58461"/>
                  <a:pt x="3960" y="59451"/>
                </a:cubicBezTo>
                <a:cubicBezTo>
                  <a:pt x="6368" y="60441"/>
                  <a:pt x="9124" y="59879"/>
                  <a:pt x="10970" y="58060"/>
                </a:cubicBezTo>
                <a:lnTo>
                  <a:pt x="21672" y="47357"/>
                </a:lnTo>
                <a:lnTo>
                  <a:pt x="42809" y="68494"/>
                </a:lnTo>
                <a:lnTo>
                  <a:pt x="21672" y="89631"/>
                </a:lnTo>
                <a:lnTo>
                  <a:pt x="10970" y="78929"/>
                </a:lnTo>
                <a:cubicBezTo>
                  <a:pt x="9124" y="77083"/>
                  <a:pt x="6368" y="76548"/>
                  <a:pt x="3960" y="77538"/>
                </a:cubicBezTo>
                <a:cubicBezTo>
                  <a:pt x="1552" y="78528"/>
                  <a:pt x="0" y="80882"/>
                  <a:pt x="0" y="83478"/>
                </a:cubicBezTo>
                <a:lnTo>
                  <a:pt x="0" y="122006"/>
                </a:lnTo>
                <a:cubicBezTo>
                  <a:pt x="0" y="125564"/>
                  <a:pt x="2863" y="128427"/>
                  <a:pt x="6421" y="128427"/>
                </a:cubicBezTo>
                <a:lnTo>
                  <a:pt x="44949" y="128427"/>
                </a:lnTo>
                <a:cubicBezTo>
                  <a:pt x="47545" y="128427"/>
                  <a:pt x="49899" y="126875"/>
                  <a:pt x="50889" y="124467"/>
                </a:cubicBezTo>
                <a:cubicBezTo>
                  <a:pt x="51879" y="122059"/>
                  <a:pt x="51344" y="119303"/>
                  <a:pt x="49498" y="117457"/>
                </a:cubicBezTo>
                <a:lnTo>
                  <a:pt x="38796" y="106755"/>
                </a:lnTo>
                <a:lnTo>
                  <a:pt x="59933" y="85618"/>
                </a:lnTo>
                <a:lnTo>
                  <a:pt x="81070" y="106755"/>
                </a:lnTo>
                <a:lnTo>
                  <a:pt x="70367" y="117457"/>
                </a:lnTo>
                <a:cubicBezTo>
                  <a:pt x="68521" y="119303"/>
                  <a:pt x="67986" y="122059"/>
                  <a:pt x="68976" y="124467"/>
                </a:cubicBezTo>
                <a:cubicBezTo>
                  <a:pt x="69966" y="126875"/>
                  <a:pt x="72320" y="128427"/>
                  <a:pt x="74916" y="128427"/>
                </a:cubicBezTo>
                <a:lnTo>
                  <a:pt x="113444" y="128427"/>
                </a:lnTo>
                <a:cubicBezTo>
                  <a:pt x="117002" y="128427"/>
                  <a:pt x="119865" y="125564"/>
                  <a:pt x="119865" y="122006"/>
                </a:cubicBezTo>
                <a:lnTo>
                  <a:pt x="119865" y="83478"/>
                </a:lnTo>
                <a:cubicBezTo>
                  <a:pt x="119865" y="80882"/>
                  <a:pt x="118313" y="78528"/>
                  <a:pt x="115905" y="77538"/>
                </a:cubicBezTo>
                <a:cubicBezTo>
                  <a:pt x="113497" y="76548"/>
                  <a:pt x="110742" y="77083"/>
                  <a:pt x="108895" y="78929"/>
                </a:cubicBezTo>
                <a:lnTo>
                  <a:pt x="98193" y="89631"/>
                </a:lnTo>
                <a:lnTo>
                  <a:pt x="77056" y="68494"/>
                </a:lnTo>
                <a:lnTo>
                  <a:pt x="98193" y="47357"/>
                </a:lnTo>
                <a:lnTo>
                  <a:pt x="108895" y="58060"/>
                </a:lnTo>
                <a:cubicBezTo>
                  <a:pt x="110742" y="59906"/>
                  <a:pt x="113497" y="60441"/>
                  <a:pt x="115905" y="59451"/>
                </a:cubicBezTo>
                <a:cubicBezTo>
                  <a:pt x="118313" y="58461"/>
                  <a:pt x="119865" y="56107"/>
                  <a:pt x="119865" y="53511"/>
                </a:cubicBezTo>
                <a:lnTo>
                  <a:pt x="119865" y="14983"/>
                </a:lnTo>
                <a:cubicBezTo>
                  <a:pt x="119865" y="11425"/>
                  <a:pt x="117002" y="8562"/>
                  <a:pt x="113444" y="8562"/>
                </a:cubicBezTo>
                <a:lnTo>
                  <a:pt x="74916" y="8562"/>
                </a:lnTo>
                <a:cubicBezTo>
                  <a:pt x="72320" y="8562"/>
                  <a:pt x="69966" y="10114"/>
                  <a:pt x="68976" y="12522"/>
                </a:cubicBezTo>
                <a:cubicBezTo>
                  <a:pt x="67986" y="14930"/>
                  <a:pt x="68548" y="17685"/>
                  <a:pt x="70367" y="19532"/>
                </a:cubicBezTo>
                <a:lnTo>
                  <a:pt x="81070" y="30234"/>
                </a:lnTo>
                <a:lnTo>
                  <a:pt x="59933" y="51371"/>
                </a:lnTo>
                <a:lnTo>
                  <a:pt x="38796" y="30234"/>
                </a:lnTo>
                <a:lnTo>
                  <a:pt x="49498" y="19532"/>
                </a:lnTo>
                <a:cubicBezTo>
                  <a:pt x="51344" y="17685"/>
                  <a:pt x="51879" y="14930"/>
                  <a:pt x="50889" y="12522"/>
                </a:cubicBezTo>
                <a:cubicBezTo>
                  <a:pt x="49899" y="10114"/>
                  <a:pt x="47545" y="8562"/>
                  <a:pt x="44949" y="856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8"/>
          <p:cNvSpPr/>
          <p:nvPr/>
        </p:nvSpPr>
        <p:spPr>
          <a:xfrm>
            <a:off x="964629" y="5316876"/>
            <a:ext cx="2260315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Scalability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4629" y="5522359"/>
            <a:ext cx="2251753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remains stable as data grows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01596" y="1215774"/>
            <a:ext cx="5647933" cy="4654764"/>
          </a:xfrm>
          <a:custGeom>
            <a:avLst/>
            <a:gdLst/>
            <a:ahLst/>
            <a:cxnLst/>
            <a:rect l="l" t="t" r="r" b="b"/>
            <a:pathLst>
              <a:path w="5647933" h="4654764">
                <a:moveTo>
                  <a:pt x="68472" y="0"/>
                </a:moveTo>
                <a:lnTo>
                  <a:pt x="5579461" y="0"/>
                </a:lnTo>
                <a:cubicBezTo>
                  <a:pt x="5617277" y="0"/>
                  <a:pt x="5647933" y="30656"/>
                  <a:pt x="5647933" y="68472"/>
                </a:cubicBezTo>
                <a:lnTo>
                  <a:pt x="5647933" y="4586292"/>
                </a:lnTo>
                <a:cubicBezTo>
                  <a:pt x="5647933" y="4624108"/>
                  <a:pt x="5617277" y="4654764"/>
                  <a:pt x="5579461" y="4654764"/>
                </a:cubicBezTo>
                <a:lnTo>
                  <a:pt x="68472" y="4654764"/>
                </a:lnTo>
                <a:cubicBezTo>
                  <a:pt x="30656" y="4654764"/>
                  <a:pt x="0" y="4624108"/>
                  <a:pt x="0" y="4586292"/>
                </a:cubicBezTo>
                <a:lnTo>
                  <a:pt x="0" y="68472"/>
                </a:lnTo>
                <a:cubicBezTo>
                  <a:pt x="0" y="30681"/>
                  <a:pt x="30681" y="0"/>
                  <a:pt x="68472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32877" y="1389866"/>
            <a:ext cx="5385371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8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Visualization</a:t>
            </a:r>
            <a:endParaRPr lang="en-US" sz="1600" dirty="0"/>
          </a:p>
        </p:txBody>
      </p:sp>
      <p:pic>
        <p:nvPicPr>
          <p:cNvPr id="25" name="Image 0" descr="https://kimi-img.moonshot.cn/pub/slides/26-03-29-23:27:20-d74k9m1g4pnpse1cs5dg.png"/>
          <p:cNvPicPr>
            <a:picLocks noChangeAspect="1"/>
          </p:cNvPicPr>
          <p:nvPr/>
        </p:nvPicPr>
        <p:blipFill>
          <a:blip r:embed="rId3"/>
          <a:srcRect l="6" r="6"/>
          <a:stretch/>
        </p:blipFill>
        <p:spPr>
          <a:xfrm>
            <a:off x="6375686" y="1766585"/>
            <a:ext cx="4683303" cy="3912742"/>
          </a:xfrm>
          <a:prstGeom prst="roundRect">
            <a:avLst>
              <a:gd name="adj" fmla="val 0"/>
            </a:avLst>
          </a:prstGeom>
        </p:spPr>
      </p:pic>
      <p:sp>
        <p:nvSpPr>
          <p:cNvPr id="26" name="Shape 22"/>
          <p:cNvSpPr/>
          <p:nvPr/>
        </p:nvSpPr>
        <p:spPr>
          <a:xfrm>
            <a:off x="345326" y="6010380"/>
            <a:ext cx="11504202" cy="690652"/>
          </a:xfrm>
          <a:custGeom>
            <a:avLst/>
            <a:gdLst/>
            <a:ahLst/>
            <a:cxnLst/>
            <a:rect l="l" t="t" r="r" b="b"/>
            <a:pathLst>
              <a:path w="11504202" h="690652">
                <a:moveTo>
                  <a:pt x="68492" y="0"/>
                </a:moveTo>
                <a:lnTo>
                  <a:pt x="11435710" y="0"/>
                </a:lnTo>
                <a:cubicBezTo>
                  <a:pt x="11473537" y="0"/>
                  <a:pt x="11504202" y="30665"/>
                  <a:pt x="11504202" y="68492"/>
                </a:cubicBezTo>
                <a:lnTo>
                  <a:pt x="11504202" y="622160"/>
                </a:lnTo>
                <a:cubicBezTo>
                  <a:pt x="11504202" y="659987"/>
                  <a:pt x="11473537" y="690652"/>
                  <a:pt x="11435710" y="690652"/>
                </a:cubicBezTo>
                <a:lnTo>
                  <a:pt x="68492" y="690652"/>
                </a:lnTo>
                <a:cubicBezTo>
                  <a:pt x="30665" y="690652"/>
                  <a:pt x="0" y="659987"/>
                  <a:pt x="0" y="622160"/>
                </a:cubicBezTo>
                <a:lnTo>
                  <a:pt x="0" y="68492"/>
                </a:lnTo>
                <a:cubicBezTo>
                  <a:pt x="0" y="30665"/>
                  <a:pt x="30665" y="0"/>
                  <a:pt x="68492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2292" y="6178762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17124" y="17124"/>
                </a:moveTo>
                <a:cubicBezTo>
                  <a:pt x="17124" y="12388"/>
                  <a:pt x="13298" y="8562"/>
                  <a:pt x="8562" y="8562"/>
                </a:cubicBezTo>
                <a:cubicBezTo>
                  <a:pt x="3826" y="8562"/>
                  <a:pt x="0" y="12388"/>
                  <a:pt x="0" y="17124"/>
                </a:cubicBezTo>
                <a:lnTo>
                  <a:pt x="0" y="107022"/>
                </a:lnTo>
                <a:cubicBezTo>
                  <a:pt x="0" y="118848"/>
                  <a:pt x="9579" y="128427"/>
                  <a:pt x="21404" y="128427"/>
                </a:cubicBezTo>
                <a:lnTo>
                  <a:pt x="128427" y="128427"/>
                </a:lnTo>
                <a:cubicBezTo>
                  <a:pt x="133163" y="128427"/>
                  <a:pt x="136989" y="124601"/>
                  <a:pt x="136989" y="119865"/>
                </a:cubicBezTo>
                <a:cubicBezTo>
                  <a:pt x="136989" y="115129"/>
                  <a:pt x="133163" y="111303"/>
                  <a:pt x="128427" y="111303"/>
                </a:cubicBezTo>
                <a:lnTo>
                  <a:pt x="21404" y="111303"/>
                </a:lnTo>
                <a:cubicBezTo>
                  <a:pt x="19050" y="111303"/>
                  <a:pt x="17124" y="109377"/>
                  <a:pt x="17124" y="107022"/>
                </a:cubicBezTo>
                <a:lnTo>
                  <a:pt x="17124" y="17124"/>
                </a:lnTo>
                <a:close/>
                <a:moveTo>
                  <a:pt x="125912" y="40294"/>
                </a:moveTo>
                <a:cubicBezTo>
                  <a:pt x="129256" y="36950"/>
                  <a:pt x="129256" y="31518"/>
                  <a:pt x="125912" y="28174"/>
                </a:cubicBezTo>
                <a:cubicBezTo>
                  <a:pt x="122567" y="24829"/>
                  <a:pt x="117136" y="24829"/>
                  <a:pt x="113792" y="28174"/>
                </a:cubicBezTo>
                <a:lnTo>
                  <a:pt x="85618" y="56374"/>
                </a:lnTo>
                <a:lnTo>
                  <a:pt x="70260" y="41043"/>
                </a:lnTo>
                <a:cubicBezTo>
                  <a:pt x="66916" y="37699"/>
                  <a:pt x="61484" y="37699"/>
                  <a:pt x="58140" y="41043"/>
                </a:cubicBezTo>
                <a:lnTo>
                  <a:pt x="32455" y="66729"/>
                </a:lnTo>
                <a:cubicBezTo>
                  <a:pt x="29110" y="70073"/>
                  <a:pt x="29110" y="75504"/>
                  <a:pt x="32455" y="78849"/>
                </a:cubicBezTo>
                <a:cubicBezTo>
                  <a:pt x="35799" y="82193"/>
                  <a:pt x="41230" y="82193"/>
                  <a:pt x="44575" y="78849"/>
                </a:cubicBezTo>
                <a:lnTo>
                  <a:pt x="64213" y="59210"/>
                </a:lnTo>
                <a:lnTo>
                  <a:pt x="79571" y="74568"/>
                </a:lnTo>
                <a:cubicBezTo>
                  <a:pt x="82916" y="77912"/>
                  <a:pt x="88347" y="77912"/>
                  <a:pt x="91692" y="74568"/>
                </a:cubicBezTo>
                <a:lnTo>
                  <a:pt x="125939" y="40321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8" name="Text 24"/>
          <p:cNvSpPr/>
          <p:nvPr/>
        </p:nvSpPr>
        <p:spPr>
          <a:xfrm>
            <a:off x="702580" y="6150226"/>
            <a:ext cx="11075599" cy="41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Insight:</a:t>
            </a:r>
            <a:r>
              <a:rPr lang="en-US" sz="1079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Rope structures significantly improve performance for operations involving large texts such as log files. This makes them ideal for log viewers and editors where text size can reach gigabytes.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42" y="416678"/>
            <a:ext cx="66668" cy="400011"/>
          </a:xfrm>
          <a:custGeom>
            <a:avLst/>
            <a:gdLst/>
            <a:ahLst/>
            <a:cxnLst/>
            <a:rect l="l" t="t" r="r" b="b"/>
            <a:pathLst>
              <a:path w="66668" h="400011">
                <a:moveTo>
                  <a:pt x="0" y="0"/>
                </a:moveTo>
                <a:lnTo>
                  <a:pt x="66668" y="0"/>
                </a:lnTo>
                <a:lnTo>
                  <a:pt x="66668" y="400011"/>
                </a:lnTo>
                <a:lnTo>
                  <a:pt x="0" y="400011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" name="Text 1"/>
          <p:cNvSpPr/>
          <p:nvPr/>
        </p:nvSpPr>
        <p:spPr>
          <a:xfrm>
            <a:off x="500014" y="333342"/>
            <a:ext cx="310841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kern="0" spc="52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0014" y="566682"/>
            <a:ext cx="3191754" cy="3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2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0014" y="1000027"/>
            <a:ext cx="11441979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Improvements and Extensions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6120" y="1436150"/>
            <a:ext cx="3705657" cy="2097280"/>
          </a:xfrm>
          <a:custGeom>
            <a:avLst/>
            <a:gdLst/>
            <a:ahLst/>
            <a:cxnLst/>
            <a:rect l="l" t="t" r="r" b="b"/>
            <a:pathLst>
              <a:path w="3705657" h="2097280">
                <a:moveTo>
                  <a:pt x="66673" y="0"/>
                </a:moveTo>
                <a:lnTo>
                  <a:pt x="3638984" y="0"/>
                </a:lnTo>
                <a:cubicBezTo>
                  <a:pt x="3675807" y="0"/>
                  <a:pt x="3705657" y="29850"/>
                  <a:pt x="3705657" y="66673"/>
                </a:cubicBezTo>
                <a:lnTo>
                  <a:pt x="3705657" y="2030607"/>
                </a:lnTo>
                <a:cubicBezTo>
                  <a:pt x="3705657" y="2067429"/>
                  <a:pt x="3675807" y="2097280"/>
                  <a:pt x="3638984" y="2097280"/>
                </a:cubicBezTo>
                <a:lnTo>
                  <a:pt x="66673" y="2097280"/>
                </a:lnTo>
                <a:cubicBezTo>
                  <a:pt x="29850" y="2097280"/>
                  <a:pt x="0" y="2067429"/>
                  <a:pt x="0" y="2030607"/>
                </a:cubicBezTo>
                <a:lnTo>
                  <a:pt x="0" y="66673"/>
                </a:lnTo>
                <a:cubicBezTo>
                  <a:pt x="0" y="29850"/>
                  <a:pt x="29850" y="0"/>
                  <a:pt x="66673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8904" y="1638936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>
                <a:moveTo>
                  <a:pt x="100005" y="0"/>
                </a:moveTo>
                <a:lnTo>
                  <a:pt x="366675" y="0"/>
                </a:lnTo>
                <a:cubicBezTo>
                  <a:pt x="421906" y="0"/>
                  <a:pt x="466679" y="44774"/>
                  <a:pt x="466679" y="100005"/>
                </a:cubicBezTo>
                <a:lnTo>
                  <a:pt x="466679" y="366675"/>
                </a:lnTo>
                <a:cubicBezTo>
                  <a:pt x="466679" y="421906"/>
                  <a:pt x="421906" y="466679"/>
                  <a:pt x="366675" y="466679"/>
                </a:cubicBezTo>
                <a:lnTo>
                  <a:pt x="100005" y="466679"/>
                </a:lnTo>
                <a:cubicBezTo>
                  <a:pt x="44811" y="466679"/>
                  <a:pt x="0" y="421869"/>
                  <a:pt x="0" y="366675"/>
                </a:cubicBezTo>
                <a:lnTo>
                  <a:pt x="0" y="100005"/>
                </a:lnTo>
                <a:cubicBezTo>
                  <a:pt x="0" y="44811"/>
                  <a:pt x="44811" y="0"/>
                  <a:pt x="10000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2241" y="1772273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0" y="31251"/>
                </a:moveTo>
                <a:cubicBezTo>
                  <a:pt x="0" y="20899"/>
                  <a:pt x="8399" y="12500"/>
                  <a:pt x="18751" y="12500"/>
                </a:cubicBezTo>
                <a:lnTo>
                  <a:pt x="56252" y="12500"/>
                </a:lnTo>
                <a:cubicBezTo>
                  <a:pt x="66603" y="12500"/>
                  <a:pt x="75002" y="20899"/>
                  <a:pt x="75002" y="31251"/>
                </a:cubicBezTo>
                <a:lnTo>
                  <a:pt x="75002" y="37501"/>
                </a:lnTo>
                <a:lnTo>
                  <a:pt x="125003" y="37501"/>
                </a:lnTo>
                <a:lnTo>
                  <a:pt x="125003" y="31251"/>
                </a:lnTo>
                <a:cubicBezTo>
                  <a:pt x="125003" y="20899"/>
                  <a:pt x="133402" y="12500"/>
                  <a:pt x="143754" y="12500"/>
                </a:cubicBezTo>
                <a:lnTo>
                  <a:pt x="181255" y="12500"/>
                </a:lnTo>
                <a:cubicBezTo>
                  <a:pt x="191607" y="12500"/>
                  <a:pt x="200005" y="20899"/>
                  <a:pt x="200005" y="31251"/>
                </a:cubicBezTo>
                <a:lnTo>
                  <a:pt x="200005" y="68752"/>
                </a:lnTo>
                <a:cubicBezTo>
                  <a:pt x="200005" y="79104"/>
                  <a:pt x="191607" y="87502"/>
                  <a:pt x="181255" y="87502"/>
                </a:cubicBezTo>
                <a:lnTo>
                  <a:pt x="143754" y="87502"/>
                </a:lnTo>
                <a:cubicBezTo>
                  <a:pt x="133402" y="87502"/>
                  <a:pt x="125003" y="79104"/>
                  <a:pt x="125003" y="68752"/>
                </a:cubicBezTo>
                <a:lnTo>
                  <a:pt x="125003" y="62502"/>
                </a:lnTo>
                <a:lnTo>
                  <a:pt x="75002" y="62502"/>
                </a:lnTo>
                <a:lnTo>
                  <a:pt x="75002" y="68752"/>
                </a:lnTo>
                <a:cubicBezTo>
                  <a:pt x="75002" y="71604"/>
                  <a:pt x="74338" y="74338"/>
                  <a:pt x="73205" y="76760"/>
                </a:cubicBezTo>
                <a:lnTo>
                  <a:pt x="100003" y="112503"/>
                </a:lnTo>
                <a:lnTo>
                  <a:pt x="131254" y="112503"/>
                </a:lnTo>
                <a:cubicBezTo>
                  <a:pt x="141605" y="112503"/>
                  <a:pt x="150004" y="120902"/>
                  <a:pt x="150004" y="131254"/>
                </a:cubicBezTo>
                <a:lnTo>
                  <a:pt x="150004" y="168755"/>
                </a:lnTo>
                <a:cubicBezTo>
                  <a:pt x="150004" y="179106"/>
                  <a:pt x="141605" y="187505"/>
                  <a:pt x="131254" y="187505"/>
                </a:cubicBezTo>
                <a:lnTo>
                  <a:pt x="93753" y="187505"/>
                </a:lnTo>
                <a:cubicBezTo>
                  <a:pt x="83401" y="187505"/>
                  <a:pt x="75002" y="179106"/>
                  <a:pt x="75002" y="168755"/>
                </a:cubicBezTo>
                <a:lnTo>
                  <a:pt x="75002" y="131254"/>
                </a:lnTo>
                <a:cubicBezTo>
                  <a:pt x="75002" y="128402"/>
                  <a:pt x="75666" y="125667"/>
                  <a:pt x="76799" y="123246"/>
                </a:cubicBezTo>
                <a:lnTo>
                  <a:pt x="50001" y="87502"/>
                </a:lnTo>
                <a:lnTo>
                  <a:pt x="18751" y="87502"/>
                </a:lnTo>
                <a:cubicBezTo>
                  <a:pt x="8399" y="87502"/>
                  <a:pt x="0" y="79104"/>
                  <a:pt x="0" y="68752"/>
                </a:cubicBezTo>
                <a:lnTo>
                  <a:pt x="0" y="3125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1138920" y="1755606"/>
            <a:ext cx="1900052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Multi-threaded Ingestion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8904" y="2238953"/>
            <a:ext cx="3366759" cy="65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Parallel log processing across multiple CPU cores for dramatically improved throughput. Implement lock-free data structures for concurrent rope operations.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8904" y="3025085"/>
            <a:ext cx="3300090" cy="5556"/>
          </a:xfrm>
          <a:custGeom>
            <a:avLst/>
            <a:gdLst/>
            <a:ahLst/>
            <a:cxnLst/>
            <a:rect l="l" t="t" r="r" b="b"/>
            <a:pathLst>
              <a:path w="3300090" h="5556">
                <a:moveTo>
                  <a:pt x="0" y="0"/>
                </a:moveTo>
                <a:lnTo>
                  <a:pt x="3300090" y="0"/>
                </a:lnTo>
                <a:lnTo>
                  <a:pt x="3300090" y="5556"/>
                </a:lnTo>
                <a:lnTo>
                  <a:pt x="0" y="5556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2238" y="3177866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55887" y="4531"/>
                </a:moveTo>
                <a:cubicBezTo>
                  <a:pt x="52632" y="1276"/>
                  <a:pt x="47345" y="1276"/>
                  <a:pt x="44090" y="4531"/>
                </a:cubicBezTo>
                <a:lnTo>
                  <a:pt x="2422" y="46199"/>
                </a:lnTo>
                <a:cubicBezTo>
                  <a:pt x="-833" y="49454"/>
                  <a:pt x="-833" y="54741"/>
                  <a:pt x="2422" y="57996"/>
                </a:cubicBezTo>
                <a:cubicBezTo>
                  <a:pt x="5677" y="61252"/>
                  <a:pt x="10964" y="61252"/>
                  <a:pt x="14219" y="57996"/>
                </a:cubicBezTo>
                <a:lnTo>
                  <a:pt x="41668" y="30548"/>
                </a:lnTo>
                <a:lnTo>
                  <a:pt x="41668" y="127087"/>
                </a:lnTo>
                <a:cubicBezTo>
                  <a:pt x="41668" y="131696"/>
                  <a:pt x="45392" y="135420"/>
                  <a:pt x="50001" y="135420"/>
                </a:cubicBezTo>
                <a:cubicBezTo>
                  <a:pt x="54611" y="135420"/>
                  <a:pt x="58335" y="131696"/>
                  <a:pt x="58335" y="127087"/>
                </a:cubicBezTo>
                <a:lnTo>
                  <a:pt x="58335" y="30548"/>
                </a:lnTo>
                <a:lnTo>
                  <a:pt x="85784" y="57996"/>
                </a:lnTo>
                <a:cubicBezTo>
                  <a:pt x="89039" y="61252"/>
                  <a:pt x="94325" y="61252"/>
                  <a:pt x="97581" y="57996"/>
                </a:cubicBezTo>
                <a:cubicBezTo>
                  <a:pt x="100836" y="54741"/>
                  <a:pt x="100836" y="49454"/>
                  <a:pt x="97581" y="46199"/>
                </a:cubicBezTo>
                <a:lnTo>
                  <a:pt x="55913" y="45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772243" y="3161199"/>
            <a:ext cx="1266701" cy="16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10x throughput increase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4821" y="1436150"/>
            <a:ext cx="3705657" cy="2097280"/>
          </a:xfrm>
          <a:custGeom>
            <a:avLst/>
            <a:gdLst/>
            <a:ahLst/>
            <a:cxnLst/>
            <a:rect l="l" t="t" r="r" b="b"/>
            <a:pathLst>
              <a:path w="3705657" h="2097280">
                <a:moveTo>
                  <a:pt x="66673" y="0"/>
                </a:moveTo>
                <a:lnTo>
                  <a:pt x="3638984" y="0"/>
                </a:lnTo>
                <a:cubicBezTo>
                  <a:pt x="3675807" y="0"/>
                  <a:pt x="3705657" y="29850"/>
                  <a:pt x="3705657" y="66673"/>
                </a:cubicBezTo>
                <a:lnTo>
                  <a:pt x="3705657" y="2030607"/>
                </a:lnTo>
                <a:cubicBezTo>
                  <a:pt x="3705657" y="2067429"/>
                  <a:pt x="3675807" y="2097280"/>
                  <a:pt x="3638984" y="2097280"/>
                </a:cubicBezTo>
                <a:lnTo>
                  <a:pt x="66673" y="2097280"/>
                </a:lnTo>
                <a:cubicBezTo>
                  <a:pt x="29850" y="2097280"/>
                  <a:pt x="0" y="2067429"/>
                  <a:pt x="0" y="2030607"/>
                </a:cubicBezTo>
                <a:lnTo>
                  <a:pt x="0" y="66673"/>
                </a:lnTo>
                <a:cubicBezTo>
                  <a:pt x="0" y="29850"/>
                  <a:pt x="29850" y="0"/>
                  <a:pt x="66673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7604" y="1638936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>
                <a:moveTo>
                  <a:pt x="100005" y="0"/>
                </a:moveTo>
                <a:lnTo>
                  <a:pt x="366675" y="0"/>
                </a:lnTo>
                <a:cubicBezTo>
                  <a:pt x="421906" y="0"/>
                  <a:pt x="466679" y="44774"/>
                  <a:pt x="466679" y="100005"/>
                </a:cubicBezTo>
                <a:lnTo>
                  <a:pt x="466679" y="366675"/>
                </a:lnTo>
                <a:cubicBezTo>
                  <a:pt x="466679" y="421906"/>
                  <a:pt x="421906" y="466679"/>
                  <a:pt x="366675" y="466679"/>
                </a:cubicBezTo>
                <a:lnTo>
                  <a:pt x="100005" y="466679"/>
                </a:lnTo>
                <a:cubicBezTo>
                  <a:pt x="44811" y="466679"/>
                  <a:pt x="0" y="421869"/>
                  <a:pt x="0" y="366675"/>
                </a:cubicBezTo>
                <a:lnTo>
                  <a:pt x="0" y="100005"/>
                </a:lnTo>
                <a:cubicBezTo>
                  <a:pt x="0" y="44811"/>
                  <a:pt x="44811" y="0"/>
                  <a:pt x="10000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80941" y="1772273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162504" y="81252"/>
                </a:moveTo>
                <a:cubicBezTo>
                  <a:pt x="162504" y="99182"/>
                  <a:pt x="156684" y="115745"/>
                  <a:pt x="146879" y="129183"/>
                </a:cubicBezTo>
                <a:lnTo>
                  <a:pt x="196333" y="178677"/>
                </a:lnTo>
                <a:cubicBezTo>
                  <a:pt x="201216" y="183560"/>
                  <a:pt x="201216" y="191490"/>
                  <a:pt x="196333" y="196373"/>
                </a:cubicBezTo>
                <a:cubicBezTo>
                  <a:pt x="191451" y="201256"/>
                  <a:pt x="183521" y="201256"/>
                  <a:pt x="178638" y="196373"/>
                </a:cubicBezTo>
                <a:lnTo>
                  <a:pt x="129183" y="146879"/>
                </a:lnTo>
                <a:cubicBezTo>
                  <a:pt x="115745" y="156684"/>
                  <a:pt x="99182" y="162504"/>
                  <a:pt x="81252" y="162504"/>
                </a:cubicBezTo>
                <a:cubicBezTo>
                  <a:pt x="36368" y="162504"/>
                  <a:pt x="0" y="126136"/>
                  <a:pt x="0" y="81252"/>
                </a:cubicBezTo>
                <a:cubicBezTo>
                  <a:pt x="0" y="36368"/>
                  <a:pt x="36368" y="0"/>
                  <a:pt x="81252" y="0"/>
                </a:cubicBezTo>
                <a:cubicBezTo>
                  <a:pt x="126136" y="0"/>
                  <a:pt x="162504" y="36368"/>
                  <a:pt x="162504" y="81252"/>
                </a:cubicBezTo>
                <a:close/>
                <a:moveTo>
                  <a:pt x="81252" y="137504"/>
                </a:moveTo>
                <a:cubicBezTo>
                  <a:pt x="112298" y="137504"/>
                  <a:pt x="137504" y="112298"/>
                  <a:pt x="137504" y="81252"/>
                </a:cubicBezTo>
                <a:cubicBezTo>
                  <a:pt x="137504" y="50206"/>
                  <a:pt x="112298" y="25001"/>
                  <a:pt x="81252" y="25001"/>
                </a:cubicBezTo>
                <a:cubicBezTo>
                  <a:pt x="50206" y="25001"/>
                  <a:pt x="25001" y="50206"/>
                  <a:pt x="25001" y="81252"/>
                </a:cubicBezTo>
                <a:cubicBezTo>
                  <a:pt x="25001" y="112298"/>
                  <a:pt x="50206" y="137504"/>
                  <a:pt x="81252" y="13750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5047621" y="1755606"/>
            <a:ext cx="160837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Regex-Based 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7604" y="2238953"/>
            <a:ext cx="3366759" cy="65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pattern matching with regular expression support for complex log analysis. Enable sophisticated filtering and anomaly detection capabilities.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47604" y="3025085"/>
            <a:ext cx="3300090" cy="5556"/>
          </a:xfrm>
          <a:custGeom>
            <a:avLst/>
            <a:gdLst/>
            <a:ahLst/>
            <a:cxnLst/>
            <a:rect l="l" t="t" r="r" b="b"/>
            <a:pathLst>
              <a:path w="3300090" h="5556">
                <a:moveTo>
                  <a:pt x="0" y="0"/>
                </a:moveTo>
                <a:lnTo>
                  <a:pt x="3300090" y="0"/>
                </a:lnTo>
                <a:lnTo>
                  <a:pt x="3300090" y="5556"/>
                </a:lnTo>
                <a:lnTo>
                  <a:pt x="0" y="5556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80939" y="3177866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55887" y="4531"/>
                </a:moveTo>
                <a:cubicBezTo>
                  <a:pt x="52632" y="1276"/>
                  <a:pt x="47345" y="1276"/>
                  <a:pt x="44090" y="4531"/>
                </a:cubicBezTo>
                <a:lnTo>
                  <a:pt x="2422" y="46199"/>
                </a:lnTo>
                <a:cubicBezTo>
                  <a:pt x="-833" y="49454"/>
                  <a:pt x="-833" y="54741"/>
                  <a:pt x="2422" y="57996"/>
                </a:cubicBezTo>
                <a:cubicBezTo>
                  <a:pt x="5677" y="61252"/>
                  <a:pt x="10964" y="61252"/>
                  <a:pt x="14219" y="57996"/>
                </a:cubicBezTo>
                <a:lnTo>
                  <a:pt x="41668" y="30548"/>
                </a:lnTo>
                <a:lnTo>
                  <a:pt x="41668" y="127087"/>
                </a:lnTo>
                <a:cubicBezTo>
                  <a:pt x="41668" y="131696"/>
                  <a:pt x="45392" y="135420"/>
                  <a:pt x="50001" y="135420"/>
                </a:cubicBezTo>
                <a:cubicBezTo>
                  <a:pt x="54611" y="135420"/>
                  <a:pt x="58335" y="131696"/>
                  <a:pt x="58335" y="127087"/>
                </a:cubicBezTo>
                <a:lnTo>
                  <a:pt x="58335" y="30548"/>
                </a:lnTo>
                <a:lnTo>
                  <a:pt x="85784" y="57996"/>
                </a:lnTo>
                <a:cubicBezTo>
                  <a:pt x="89039" y="61252"/>
                  <a:pt x="94325" y="61252"/>
                  <a:pt x="97581" y="57996"/>
                </a:cubicBezTo>
                <a:cubicBezTo>
                  <a:pt x="100836" y="54741"/>
                  <a:pt x="100836" y="49454"/>
                  <a:pt x="97581" y="46199"/>
                </a:cubicBezTo>
                <a:lnTo>
                  <a:pt x="55913" y="45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9"/>
          <p:cNvSpPr/>
          <p:nvPr/>
        </p:nvSpPr>
        <p:spPr>
          <a:xfrm>
            <a:off x="4680944" y="3161199"/>
            <a:ext cx="1400038" cy="16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pattern matching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53522" y="1436150"/>
            <a:ext cx="3705657" cy="2097280"/>
          </a:xfrm>
          <a:custGeom>
            <a:avLst/>
            <a:gdLst/>
            <a:ahLst/>
            <a:cxnLst/>
            <a:rect l="l" t="t" r="r" b="b"/>
            <a:pathLst>
              <a:path w="3705657" h="2097280">
                <a:moveTo>
                  <a:pt x="66673" y="0"/>
                </a:moveTo>
                <a:lnTo>
                  <a:pt x="3638984" y="0"/>
                </a:lnTo>
                <a:cubicBezTo>
                  <a:pt x="3675807" y="0"/>
                  <a:pt x="3705657" y="29850"/>
                  <a:pt x="3705657" y="66673"/>
                </a:cubicBezTo>
                <a:lnTo>
                  <a:pt x="3705657" y="2030607"/>
                </a:lnTo>
                <a:cubicBezTo>
                  <a:pt x="3705657" y="2067429"/>
                  <a:pt x="3675807" y="2097280"/>
                  <a:pt x="3638984" y="2097280"/>
                </a:cubicBezTo>
                <a:lnTo>
                  <a:pt x="66673" y="2097280"/>
                </a:lnTo>
                <a:cubicBezTo>
                  <a:pt x="29850" y="2097280"/>
                  <a:pt x="0" y="2067429"/>
                  <a:pt x="0" y="2030607"/>
                </a:cubicBezTo>
                <a:lnTo>
                  <a:pt x="0" y="66673"/>
                </a:lnTo>
                <a:cubicBezTo>
                  <a:pt x="0" y="29850"/>
                  <a:pt x="29850" y="0"/>
                  <a:pt x="66673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6305" y="1638936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>
                <a:moveTo>
                  <a:pt x="100005" y="0"/>
                </a:moveTo>
                <a:lnTo>
                  <a:pt x="366675" y="0"/>
                </a:lnTo>
                <a:cubicBezTo>
                  <a:pt x="421906" y="0"/>
                  <a:pt x="466679" y="44774"/>
                  <a:pt x="466679" y="100005"/>
                </a:cubicBezTo>
                <a:lnTo>
                  <a:pt x="466679" y="366675"/>
                </a:lnTo>
                <a:cubicBezTo>
                  <a:pt x="466679" y="421906"/>
                  <a:pt x="421906" y="466679"/>
                  <a:pt x="366675" y="466679"/>
                </a:cubicBezTo>
                <a:lnTo>
                  <a:pt x="100005" y="466679"/>
                </a:lnTo>
                <a:cubicBezTo>
                  <a:pt x="44811" y="466679"/>
                  <a:pt x="0" y="421869"/>
                  <a:pt x="0" y="366675"/>
                </a:cubicBezTo>
                <a:lnTo>
                  <a:pt x="0" y="100005"/>
                </a:lnTo>
                <a:cubicBezTo>
                  <a:pt x="0" y="44811"/>
                  <a:pt x="44811" y="0"/>
                  <a:pt x="100005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2142" y="1772273"/>
            <a:ext cx="175005" cy="200005"/>
          </a:xfrm>
          <a:custGeom>
            <a:avLst/>
            <a:gdLst/>
            <a:ahLst/>
            <a:cxnLst/>
            <a:rect l="l" t="t" r="r" b="b"/>
            <a:pathLst>
              <a:path w="175005" h="200005">
                <a:moveTo>
                  <a:pt x="25001" y="12500"/>
                </a:moveTo>
                <a:cubicBezTo>
                  <a:pt x="11211" y="12500"/>
                  <a:pt x="0" y="23712"/>
                  <a:pt x="0" y="37501"/>
                </a:cubicBezTo>
                <a:lnTo>
                  <a:pt x="0" y="62502"/>
                </a:lnTo>
                <a:cubicBezTo>
                  <a:pt x="0" y="76291"/>
                  <a:pt x="11211" y="87502"/>
                  <a:pt x="25001" y="87502"/>
                </a:cubicBezTo>
                <a:lnTo>
                  <a:pt x="150004" y="87502"/>
                </a:lnTo>
                <a:cubicBezTo>
                  <a:pt x="163794" y="87502"/>
                  <a:pt x="175005" y="76291"/>
                  <a:pt x="175005" y="62502"/>
                </a:cubicBezTo>
                <a:lnTo>
                  <a:pt x="175005" y="37501"/>
                </a:lnTo>
                <a:cubicBezTo>
                  <a:pt x="175005" y="23712"/>
                  <a:pt x="163794" y="12500"/>
                  <a:pt x="150004" y="12500"/>
                </a:cubicBezTo>
                <a:lnTo>
                  <a:pt x="25001" y="12500"/>
                </a:lnTo>
                <a:close/>
                <a:moveTo>
                  <a:pt x="109378" y="40626"/>
                </a:moveTo>
                <a:cubicBezTo>
                  <a:pt x="114552" y="40626"/>
                  <a:pt x="118753" y="44827"/>
                  <a:pt x="118753" y="50001"/>
                </a:cubicBezTo>
                <a:cubicBezTo>
                  <a:pt x="118753" y="55176"/>
                  <a:pt x="114552" y="59377"/>
                  <a:pt x="109378" y="59377"/>
                </a:cubicBezTo>
                <a:cubicBezTo>
                  <a:pt x="104204" y="59377"/>
                  <a:pt x="100003" y="55176"/>
                  <a:pt x="100003" y="50001"/>
                </a:cubicBezTo>
                <a:cubicBezTo>
                  <a:pt x="100003" y="44827"/>
                  <a:pt x="104204" y="40626"/>
                  <a:pt x="109378" y="40626"/>
                </a:cubicBezTo>
                <a:close/>
                <a:moveTo>
                  <a:pt x="131254" y="50001"/>
                </a:moveTo>
                <a:cubicBezTo>
                  <a:pt x="131254" y="44827"/>
                  <a:pt x="135455" y="40626"/>
                  <a:pt x="140629" y="40626"/>
                </a:cubicBezTo>
                <a:cubicBezTo>
                  <a:pt x="145803" y="40626"/>
                  <a:pt x="150004" y="44827"/>
                  <a:pt x="150004" y="50001"/>
                </a:cubicBezTo>
                <a:cubicBezTo>
                  <a:pt x="150004" y="55176"/>
                  <a:pt x="145803" y="59377"/>
                  <a:pt x="140629" y="59377"/>
                </a:cubicBezTo>
                <a:cubicBezTo>
                  <a:pt x="135455" y="59377"/>
                  <a:pt x="131254" y="55176"/>
                  <a:pt x="131254" y="50001"/>
                </a:cubicBezTo>
                <a:close/>
                <a:moveTo>
                  <a:pt x="25001" y="112503"/>
                </a:moveTo>
                <a:cubicBezTo>
                  <a:pt x="11211" y="112503"/>
                  <a:pt x="0" y="123714"/>
                  <a:pt x="0" y="137504"/>
                </a:cubicBezTo>
                <a:lnTo>
                  <a:pt x="0" y="162504"/>
                </a:lnTo>
                <a:cubicBezTo>
                  <a:pt x="0" y="176294"/>
                  <a:pt x="11211" y="187505"/>
                  <a:pt x="25001" y="187505"/>
                </a:cubicBezTo>
                <a:lnTo>
                  <a:pt x="150004" y="187505"/>
                </a:lnTo>
                <a:cubicBezTo>
                  <a:pt x="163794" y="187505"/>
                  <a:pt x="175005" y="176294"/>
                  <a:pt x="175005" y="162504"/>
                </a:cubicBezTo>
                <a:lnTo>
                  <a:pt x="175005" y="137504"/>
                </a:lnTo>
                <a:cubicBezTo>
                  <a:pt x="175005" y="123714"/>
                  <a:pt x="163794" y="112503"/>
                  <a:pt x="150004" y="112503"/>
                </a:cubicBezTo>
                <a:lnTo>
                  <a:pt x="25001" y="112503"/>
                </a:lnTo>
                <a:close/>
                <a:moveTo>
                  <a:pt x="109378" y="140629"/>
                </a:moveTo>
                <a:cubicBezTo>
                  <a:pt x="114552" y="140629"/>
                  <a:pt x="118753" y="144830"/>
                  <a:pt x="118753" y="150004"/>
                </a:cubicBezTo>
                <a:cubicBezTo>
                  <a:pt x="118753" y="155178"/>
                  <a:pt x="114552" y="159379"/>
                  <a:pt x="109378" y="159379"/>
                </a:cubicBezTo>
                <a:cubicBezTo>
                  <a:pt x="104204" y="159379"/>
                  <a:pt x="100003" y="155178"/>
                  <a:pt x="100003" y="150004"/>
                </a:cubicBezTo>
                <a:cubicBezTo>
                  <a:pt x="100003" y="144830"/>
                  <a:pt x="104204" y="140629"/>
                  <a:pt x="109378" y="140629"/>
                </a:cubicBezTo>
                <a:close/>
                <a:moveTo>
                  <a:pt x="131254" y="150004"/>
                </a:moveTo>
                <a:cubicBezTo>
                  <a:pt x="131254" y="144830"/>
                  <a:pt x="135455" y="140629"/>
                  <a:pt x="140629" y="140629"/>
                </a:cubicBezTo>
                <a:cubicBezTo>
                  <a:pt x="145803" y="140629"/>
                  <a:pt x="150004" y="144830"/>
                  <a:pt x="150004" y="150004"/>
                </a:cubicBezTo>
                <a:cubicBezTo>
                  <a:pt x="150004" y="155178"/>
                  <a:pt x="145803" y="159379"/>
                  <a:pt x="140629" y="159379"/>
                </a:cubicBezTo>
                <a:cubicBezTo>
                  <a:pt x="135455" y="159379"/>
                  <a:pt x="131254" y="155178"/>
                  <a:pt x="131254" y="15000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Text 23"/>
          <p:cNvSpPr/>
          <p:nvPr/>
        </p:nvSpPr>
        <p:spPr>
          <a:xfrm>
            <a:off x="8956322" y="1755606"/>
            <a:ext cx="1516708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Storage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56305" y="2238953"/>
            <a:ext cx="3366759" cy="65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scaling across multiple nodes for enterprise-grade deployments. Implement sharding strategies for massive log volumes.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56305" y="3025085"/>
            <a:ext cx="3300090" cy="5556"/>
          </a:xfrm>
          <a:custGeom>
            <a:avLst/>
            <a:gdLst/>
            <a:ahLst/>
            <a:cxnLst/>
            <a:rect l="l" t="t" r="r" b="b"/>
            <a:pathLst>
              <a:path w="3300090" h="5556">
                <a:moveTo>
                  <a:pt x="0" y="0"/>
                </a:moveTo>
                <a:lnTo>
                  <a:pt x="3300090" y="0"/>
                </a:lnTo>
                <a:lnTo>
                  <a:pt x="3300090" y="5556"/>
                </a:lnTo>
                <a:lnTo>
                  <a:pt x="0" y="5556"/>
                </a:lnTo>
                <a:lnTo>
                  <a:pt x="0" y="0"/>
                </a:ln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89639" y="3177866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55887" y="4531"/>
                </a:moveTo>
                <a:cubicBezTo>
                  <a:pt x="52632" y="1276"/>
                  <a:pt x="47345" y="1276"/>
                  <a:pt x="44090" y="4531"/>
                </a:cubicBezTo>
                <a:lnTo>
                  <a:pt x="2422" y="46199"/>
                </a:lnTo>
                <a:cubicBezTo>
                  <a:pt x="-833" y="49454"/>
                  <a:pt x="-833" y="54741"/>
                  <a:pt x="2422" y="57996"/>
                </a:cubicBezTo>
                <a:cubicBezTo>
                  <a:pt x="5677" y="61252"/>
                  <a:pt x="10964" y="61252"/>
                  <a:pt x="14219" y="57996"/>
                </a:cubicBezTo>
                <a:lnTo>
                  <a:pt x="41668" y="30548"/>
                </a:lnTo>
                <a:lnTo>
                  <a:pt x="41668" y="127087"/>
                </a:lnTo>
                <a:cubicBezTo>
                  <a:pt x="41668" y="131696"/>
                  <a:pt x="45392" y="135420"/>
                  <a:pt x="50001" y="135420"/>
                </a:cubicBezTo>
                <a:cubicBezTo>
                  <a:pt x="54611" y="135420"/>
                  <a:pt x="58335" y="131696"/>
                  <a:pt x="58335" y="127087"/>
                </a:cubicBezTo>
                <a:lnTo>
                  <a:pt x="58335" y="30548"/>
                </a:lnTo>
                <a:lnTo>
                  <a:pt x="85784" y="57996"/>
                </a:lnTo>
                <a:cubicBezTo>
                  <a:pt x="89039" y="61252"/>
                  <a:pt x="94325" y="61252"/>
                  <a:pt x="97581" y="57996"/>
                </a:cubicBezTo>
                <a:cubicBezTo>
                  <a:pt x="100836" y="54741"/>
                  <a:pt x="100836" y="49454"/>
                  <a:pt x="97581" y="46199"/>
                </a:cubicBezTo>
                <a:lnTo>
                  <a:pt x="55913" y="453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Text 27"/>
          <p:cNvSpPr/>
          <p:nvPr/>
        </p:nvSpPr>
        <p:spPr>
          <a:xfrm>
            <a:off x="8589645" y="3161199"/>
            <a:ext cx="1075029" cy="16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Unlimited scalability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6120" y="3736213"/>
            <a:ext cx="3705657" cy="2097280"/>
          </a:xfrm>
          <a:custGeom>
            <a:avLst/>
            <a:gdLst/>
            <a:ahLst/>
            <a:cxnLst/>
            <a:rect l="l" t="t" r="r" b="b"/>
            <a:pathLst>
              <a:path w="3705657" h="2097280">
                <a:moveTo>
                  <a:pt x="66673" y="0"/>
                </a:moveTo>
                <a:lnTo>
                  <a:pt x="3638984" y="0"/>
                </a:lnTo>
                <a:cubicBezTo>
                  <a:pt x="3675807" y="0"/>
                  <a:pt x="3705657" y="29850"/>
                  <a:pt x="3705657" y="66673"/>
                </a:cubicBezTo>
                <a:lnTo>
                  <a:pt x="3705657" y="2030607"/>
                </a:lnTo>
                <a:cubicBezTo>
                  <a:pt x="3705657" y="2067429"/>
                  <a:pt x="3675807" y="2097280"/>
                  <a:pt x="3638984" y="2097280"/>
                </a:cubicBezTo>
                <a:lnTo>
                  <a:pt x="66673" y="2097280"/>
                </a:lnTo>
                <a:cubicBezTo>
                  <a:pt x="29850" y="2097280"/>
                  <a:pt x="0" y="2067429"/>
                  <a:pt x="0" y="2030607"/>
                </a:cubicBezTo>
                <a:lnTo>
                  <a:pt x="0" y="66673"/>
                </a:lnTo>
                <a:cubicBezTo>
                  <a:pt x="0" y="29850"/>
                  <a:pt x="29850" y="0"/>
                  <a:pt x="66673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8904" y="3938999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>
                <a:moveTo>
                  <a:pt x="100005" y="0"/>
                </a:moveTo>
                <a:lnTo>
                  <a:pt x="366675" y="0"/>
                </a:lnTo>
                <a:cubicBezTo>
                  <a:pt x="421906" y="0"/>
                  <a:pt x="466679" y="44774"/>
                  <a:pt x="466679" y="100005"/>
                </a:cubicBezTo>
                <a:lnTo>
                  <a:pt x="466679" y="366675"/>
                </a:lnTo>
                <a:cubicBezTo>
                  <a:pt x="466679" y="421906"/>
                  <a:pt x="421906" y="466679"/>
                  <a:pt x="366675" y="466679"/>
                </a:cubicBezTo>
                <a:lnTo>
                  <a:pt x="100005" y="466679"/>
                </a:lnTo>
                <a:cubicBezTo>
                  <a:pt x="44811" y="466679"/>
                  <a:pt x="0" y="421869"/>
                  <a:pt x="0" y="366675"/>
                </a:cubicBezTo>
                <a:lnTo>
                  <a:pt x="0" y="100005"/>
                </a:lnTo>
                <a:cubicBezTo>
                  <a:pt x="0" y="44811"/>
                  <a:pt x="44811" y="0"/>
                  <a:pt x="100005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72241" y="4072336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12500" y="12500"/>
                </a:moveTo>
                <a:cubicBezTo>
                  <a:pt x="19415" y="12500"/>
                  <a:pt x="25001" y="18086"/>
                  <a:pt x="25001" y="25001"/>
                </a:cubicBezTo>
                <a:lnTo>
                  <a:pt x="25001" y="156254"/>
                </a:lnTo>
                <a:cubicBezTo>
                  <a:pt x="25001" y="159692"/>
                  <a:pt x="27813" y="162504"/>
                  <a:pt x="31251" y="162504"/>
                </a:cubicBezTo>
                <a:lnTo>
                  <a:pt x="187505" y="162504"/>
                </a:lnTo>
                <a:cubicBezTo>
                  <a:pt x="194419" y="162504"/>
                  <a:pt x="200005" y="168091"/>
                  <a:pt x="200005" y="175005"/>
                </a:cubicBezTo>
                <a:cubicBezTo>
                  <a:pt x="200005" y="181919"/>
                  <a:pt x="194419" y="187505"/>
                  <a:pt x="187505" y="187505"/>
                </a:cubicBezTo>
                <a:lnTo>
                  <a:pt x="31251" y="187505"/>
                </a:lnTo>
                <a:cubicBezTo>
                  <a:pt x="13985" y="187505"/>
                  <a:pt x="0" y="173520"/>
                  <a:pt x="0" y="156254"/>
                </a:cubicBezTo>
                <a:lnTo>
                  <a:pt x="0" y="25001"/>
                </a:lnTo>
                <a:cubicBezTo>
                  <a:pt x="0" y="18086"/>
                  <a:pt x="5586" y="12500"/>
                  <a:pt x="12500" y="12500"/>
                </a:cubicBezTo>
                <a:close/>
                <a:moveTo>
                  <a:pt x="93753" y="37501"/>
                </a:moveTo>
                <a:cubicBezTo>
                  <a:pt x="96370" y="37501"/>
                  <a:pt x="98870" y="38595"/>
                  <a:pt x="100667" y="40548"/>
                </a:cubicBezTo>
                <a:lnTo>
                  <a:pt x="128441" y="70822"/>
                </a:lnTo>
                <a:lnTo>
                  <a:pt x="146488" y="52736"/>
                </a:lnTo>
                <a:cubicBezTo>
                  <a:pt x="150160" y="49064"/>
                  <a:pt x="156098" y="49064"/>
                  <a:pt x="159731" y="52736"/>
                </a:cubicBezTo>
                <a:lnTo>
                  <a:pt x="184732" y="77737"/>
                </a:lnTo>
                <a:cubicBezTo>
                  <a:pt x="186489" y="79494"/>
                  <a:pt x="187466" y="81877"/>
                  <a:pt x="187466" y="84377"/>
                </a:cubicBezTo>
                <a:lnTo>
                  <a:pt x="187466" y="128129"/>
                </a:lnTo>
                <a:cubicBezTo>
                  <a:pt x="187466" y="133324"/>
                  <a:pt x="183286" y="137504"/>
                  <a:pt x="178091" y="137504"/>
                </a:cubicBezTo>
                <a:lnTo>
                  <a:pt x="59338" y="137504"/>
                </a:lnTo>
                <a:cubicBezTo>
                  <a:pt x="54142" y="137504"/>
                  <a:pt x="49962" y="133324"/>
                  <a:pt x="49962" y="128129"/>
                </a:cubicBezTo>
                <a:lnTo>
                  <a:pt x="49962" y="84377"/>
                </a:lnTo>
                <a:cubicBezTo>
                  <a:pt x="49962" y="82033"/>
                  <a:pt x="50861" y="79768"/>
                  <a:pt x="52423" y="78049"/>
                </a:cubicBezTo>
                <a:lnTo>
                  <a:pt x="86799" y="40548"/>
                </a:lnTo>
                <a:cubicBezTo>
                  <a:pt x="88557" y="38595"/>
                  <a:pt x="91096" y="37501"/>
                  <a:pt x="93713" y="37501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3" name="Text 31"/>
          <p:cNvSpPr/>
          <p:nvPr/>
        </p:nvSpPr>
        <p:spPr>
          <a:xfrm>
            <a:off x="1138920" y="4055669"/>
            <a:ext cx="1933386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 Dashboards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8904" y="4539016"/>
            <a:ext cx="3366759" cy="65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charts and graphs for intuitive log data representation. Real-time metrics and trend analysis with customizable widgets.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8904" y="5325148"/>
            <a:ext cx="3300090" cy="5556"/>
          </a:xfrm>
          <a:custGeom>
            <a:avLst/>
            <a:gdLst/>
            <a:ahLst/>
            <a:cxnLst/>
            <a:rect l="l" t="t" r="r" b="b"/>
            <a:pathLst>
              <a:path w="3300090" h="5556">
                <a:moveTo>
                  <a:pt x="0" y="0"/>
                </a:moveTo>
                <a:lnTo>
                  <a:pt x="3300090" y="0"/>
                </a:lnTo>
                <a:lnTo>
                  <a:pt x="3300090" y="5556"/>
                </a:lnTo>
                <a:lnTo>
                  <a:pt x="0" y="5556"/>
                </a:lnTo>
                <a:lnTo>
                  <a:pt x="0" y="0"/>
                </a:ln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2238" y="5477929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55887" y="4531"/>
                </a:moveTo>
                <a:cubicBezTo>
                  <a:pt x="52632" y="1276"/>
                  <a:pt x="47345" y="1276"/>
                  <a:pt x="44090" y="4531"/>
                </a:cubicBezTo>
                <a:lnTo>
                  <a:pt x="2422" y="46199"/>
                </a:lnTo>
                <a:cubicBezTo>
                  <a:pt x="-833" y="49454"/>
                  <a:pt x="-833" y="54741"/>
                  <a:pt x="2422" y="57996"/>
                </a:cubicBezTo>
                <a:cubicBezTo>
                  <a:pt x="5677" y="61252"/>
                  <a:pt x="10964" y="61252"/>
                  <a:pt x="14219" y="57996"/>
                </a:cubicBezTo>
                <a:lnTo>
                  <a:pt x="41668" y="30548"/>
                </a:lnTo>
                <a:lnTo>
                  <a:pt x="41668" y="127087"/>
                </a:lnTo>
                <a:cubicBezTo>
                  <a:pt x="41668" y="131696"/>
                  <a:pt x="45392" y="135420"/>
                  <a:pt x="50001" y="135420"/>
                </a:cubicBezTo>
                <a:cubicBezTo>
                  <a:pt x="54611" y="135420"/>
                  <a:pt x="58335" y="131696"/>
                  <a:pt x="58335" y="127087"/>
                </a:cubicBezTo>
                <a:lnTo>
                  <a:pt x="58335" y="30548"/>
                </a:lnTo>
                <a:lnTo>
                  <a:pt x="85784" y="57996"/>
                </a:lnTo>
                <a:cubicBezTo>
                  <a:pt x="89039" y="61252"/>
                  <a:pt x="94325" y="61252"/>
                  <a:pt x="97581" y="57996"/>
                </a:cubicBezTo>
                <a:cubicBezTo>
                  <a:pt x="100836" y="54741"/>
                  <a:pt x="100836" y="49454"/>
                  <a:pt x="97581" y="46199"/>
                </a:cubicBezTo>
                <a:lnTo>
                  <a:pt x="55913" y="4531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7" name="Text 35"/>
          <p:cNvSpPr/>
          <p:nvPr/>
        </p:nvSpPr>
        <p:spPr>
          <a:xfrm>
            <a:off x="772243" y="5461262"/>
            <a:ext cx="766688" cy="16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insights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44821" y="3736213"/>
            <a:ext cx="3705657" cy="2097280"/>
          </a:xfrm>
          <a:custGeom>
            <a:avLst/>
            <a:gdLst/>
            <a:ahLst/>
            <a:cxnLst/>
            <a:rect l="l" t="t" r="r" b="b"/>
            <a:pathLst>
              <a:path w="3705657" h="2097280">
                <a:moveTo>
                  <a:pt x="66673" y="0"/>
                </a:moveTo>
                <a:lnTo>
                  <a:pt x="3638984" y="0"/>
                </a:lnTo>
                <a:cubicBezTo>
                  <a:pt x="3675807" y="0"/>
                  <a:pt x="3705657" y="29850"/>
                  <a:pt x="3705657" y="66673"/>
                </a:cubicBezTo>
                <a:lnTo>
                  <a:pt x="3705657" y="2030607"/>
                </a:lnTo>
                <a:cubicBezTo>
                  <a:pt x="3705657" y="2067429"/>
                  <a:pt x="3675807" y="2097280"/>
                  <a:pt x="3638984" y="2097280"/>
                </a:cubicBezTo>
                <a:lnTo>
                  <a:pt x="66673" y="2097280"/>
                </a:lnTo>
                <a:cubicBezTo>
                  <a:pt x="29850" y="2097280"/>
                  <a:pt x="0" y="2067429"/>
                  <a:pt x="0" y="2030607"/>
                </a:cubicBezTo>
                <a:lnTo>
                  <a:pt x="0" y="66673"/>
                </a:lnTo>
                <a:cubicBezTo>
                  <a:pt x="0" y="29850"/>
                  <a:pt x="29850" y="0"/>
                  <a:pt x="66673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47604" y="3938999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>
                <a:moveTo>
                  <a:pt x="100005" y="0"/>
                </a:moveTo>
                <a:lnTo>
                  <a:pt x="366675" y="0"/>
                </a:lnTo>
                <a:cubicBezTo>
                  <a:pt x="421906" y="0"/>
                  <a:pt x="466679" y="44774"/>
                  <a:pt x="466679" y="100005"/>
                </a:cubicBezTo>
                <a:lnTo>
                  <a:pt x="466679" y="366675"/>
                </a:lnTo>
                <a:cubicBezTo>
                  <a:pt x="466679" y="421906"/>
                  <a:pt x="421906" y="466679"/>
                  <a:pt x="366675" y="466679"/>
                </a:cubicBezTo>
                <a:lnTo>
                  <a:pt x="100005" y="466679"/>
                </a:lnTo>
                <a:cubicBezTo>
                  <a:pt x="44811" y="466679"/>
                  <a:pt x="0" y="421869"/>
                  <a:pt x="0" y="366675"/>
                </a:cubicBezTo>
                <a:lnTo>
                  <a:pt x="0" y="100005"/>
                </a:lnTo>
                <a:cubicBezTo>
                  <a:pt x="0" y="44811"/>
                  <a:pt x="44811" y="0"/>
                  <a:pt x="100005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80941" y="4072336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100003" y="0"/>
                </a:moveTo>
                <a:cubicBezTo>
                  <a:pt x="101800" y="0"/>
                  <a:pt x="103597" y="391"/>
                  <a:pt x="105237" y="1133"/>
                </a:cubicBezTo>
                <a:lnTo>
                  <a:pt x="178833" y="32345"/>
                </a:lnTo>
                <a:cubicBezTo>
                  <a:pt x="187427" y="35978"/>
                  <a:pt x="193833" y="44454"/>
                  <a:pt x="193794" y="54689"/>
                </a:cubicBezTo>
                <a:cubicBezTo>
                  <a:pt x="193599" y="93440"/>
                  <a:pt x="177661" y="164340"/>
                  <a:pt x="110355" y="196568"/>
                </a:cubicBezTo>
                <a:cubicBezTo>
                  <a:pt x="103831" y="199693"/>
                  <a:pt x="96253" y="199693"/>
                  <a:pt x="89729" y="196568"/>
                </a:cubicBezTo>
                <a:cubicBezTo>
                  <a:pt x="22383" y="164340"/>
                  <a:pt x="6485" y="93440"/>
                  <a:pt x="6289" y="54689"/>
                </a:cubicBezTo>
                <a:cubicBezTo>
                  <a:pt x="6250" y="44454"/>
                  <a:pt x="12657" y="35978"/>
                  <a:pt x="21251" y="32345"/>
                </a:cubicBezTo>
                <a:lnTo>
                  <a:pt x="94807" y="1133"/>
                </a:lnTo>
                <a:cubicBezTo>
                  <a:pt x="96448" y="391"/>
                  <a:pt x="98206" y="0"/>
                  <a:pt x="100003" y="0"/>
                </a:cubicBezTo>
                <a:close/>
                <a:moveTo>
                  <a:pt x="100003" y="26094"/>
                </a:moveTo>
                <a:lnTo>
                  <a:pt x="100003" y="173794"/>
                </a:lnTo>
                <a:cubicBezTo>
                  <a:pt x="153910" y="147699"/>
                  <a:pt x="168403" y="89885"/>
                  <a:pt x="168755" y="55275"/>
                </a:cubicBezTo>
                <a:lnTo>
                  <a:pt x="100003" y="26134"/>
                </a:lnTo>
                <a:lnTo>
                  <a:pt x="100003" y="26134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1" name="Text 39"/>
          <p:cNvSpPr/>
          <p:nvPr/>
        </p:nvSpPr>
        <p:spPr>
          <a:xfrm>
            <a:off x="5047621" y="4055669"/>
            <a:ext cx="1308369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SIEM Integration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47604" y="4539016"/>
            <a:ext cx="3366759" cy="65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security information and event management system compatibility. Export to Splunk, ELK Stack, and other SIEM platforms.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47604" y="5325148"/>
            <a:ext cx="3300090" cy="5556"/>
          </a:xfrm>
          <a:custGeom>
            <a:avLst/>
            <a:gdLst/>
            <a:ahLst/>
            <a:cxnLst/>
            <a:rect l="l" t="t" r="r" b="b"/>
            <a:pathLst>
              <a:path w="3300090" h="5556">
                <a:moveTo>
                  <a:pt x="0" y="0"/>
                </a:moveTo>
                <a:lnTo>
                  <a:pt x="3300090" y="0"/>
                </a:lnTo>
                <a:lnTo>
                  <a:pt x="3300090" y="5556"/>
                </a:lnTo>
                <a:lnTo>
                  <a:pt x="0" y="5556"/>
                </a:lnTo>
                <a:lnTo>
                  <a:pt x="0" y="0"/>
                </a:ln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480939" y="5477929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55887" y="4531"/>
                </a:moveTo>
                <a:cubicBezTo>
                  <a:pt x="52632" y="1276"/>
                  <a:pt x="47345" y="1276"/>
                  <a:pt x="44090" y="4531"/>
                </a:cubicBezTo>
                <a:lnTo>
                  <a:pt x="2422" y="46199"/>
                </a:lnTo>
                <a:cubicBezTo>
                  <a:pt x="-833" y="49454"/>
                  <a:pt x="-833" y="54741"/>
                  <a:pt x="2422" y="57996"/>
                </a:cubicBezTo>
                <a:cubicBezTo>
                  <a:pt x="5677" y="61252"/>
                  <a:pt x="10964" y="61252"/>
                  <a:pt x="14219" y="57996"/>
                </a:cubicBezTo>
                <a:lnTo>
                  <a:pt x="41668" y="30548"/>
                </a:lnTo>
                <a:lnTo>
                  <a:pt x="41668" y="127087"/>
                </a:lnTo>
                <a:cubicBezTo>
                  <a:pt x="41668" y="131696"/>
                  <a:pt x="45392" y="135420"/>
                  <a:pt x="50001" y="135420"/>
                </a:cubicBezTo>
                <a:cubicBezTo>
                  <a:pt x="54611" y="135420"/>
                  <a:pt x="58335" y="131696"/>
                  <a:pt x="58335" y="127087"/>
                </a:cubicBezTo>
                <a:lnTo>
                  <a:pt x="58335" y="30548"/>
                </a:lnTo>
                <a:lnTo>
                  <a:pt x="85784" y="57996"/>
                </a:lnTo>
                <a:cubicBezTo>
                  <a:pt x="89039" y="61252"/>
                  <a:pt x="94325" y="61252"/>
                  <a:pt x="97581" y="57996"/>
                </a:cubicBezTo>
                <a:cubicBezTo>
                  <a:pt x="100836" y="54741"/>
                  <a:pt x="100836" y="49454"/>
                  <a:pt x="97581" y="46199"/>
                </a:cubicBezTo>
                <a:lnTo>
                  <a:pt x="55913" y="4531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5" name="Text 43"/>
          <p:cNvSpPr/>
          <p:nvPr/>
        </p:nvSpPr>
        <p:spPr>
          <a:xfrm>
            <a:off x="4680944" y="5461262"/>
            <a:ext cx="883357" cy="16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ready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53522" y="3736213"/>
            <a:ext cx="3705657" cy="2097280"/>
          </a:xfrm>
          <a:custGeom>
            <a:avLst/>
            <a:gdLst/>
            <a:ahLst/>
            <a:cxnLst/>
            <a:rect l="l" t="t" r="r" b="b"/>
            <a:pathLst>
              <a:path w="3705657" h="2097280">
                <a:moveTo>
                  <a:pt x="66673" y="0"/>
                </a:moveTo>
                <a:lnTo>
                  <a:pt x="3638984" y="0"/>
                </a:lnTo>
                <a:cubicBezTo>
                  <a:pt x="3675807" y="0"/>
                  <a:pt x="3705657" y="29850"/>
                  <a:pt x="3705657" y="66673"/>
                </a:cubicBezTo>
                <a:lnTo>
                  <a:pt x="3705657" y="2030607"/>
                </a:lnTo>
                <a:cubicBezTo>
                  <a:pt x="3705657" y="2067429"/>
                  <a:pt x="3675807" y="2097280"/>
                  <a:pt x="3638984" y="2097280"/>
                </a:cubicBezTo>
                <a:lnTo>
                  <a:pt x="66673" y="2097280"/>
                </a:lnTo>
                <a:cubicBezTo>
                  <a:pt x="29850" y="2097280"/>
                  <a:pt x="0" y="2067429"/>
                  <a:pt x="0" y="2030607"/>
                </a:cubicBezTo>
                <a:lnTo>
                  <a:pt x="0" y="66673"/>
                </a:lnTo>
                <a:cubicBezTo>
                  <a:pt x="0" y="29850"/>
                  <a:pt x="29850" y="0"/>
                  <a:pt x="66673" y="0"/>
                </a:cubicBezTo>
                <a:close/>
              </a:path>
            </a:pathLst>
          </a:custGeom>
          <a:solidFill>
            <a:srgbClr val="2C3E50">
              <a:alpha val="40000"/>
            </a:srgbClr>
          </a:solidFill>
          <a:ln w="8467">
            <a:solidFill>
              <a:srgbClr val="FFCA28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56305" y="3938999"/>
            <a:ext cx="466679" cy="466679"/>
          </a:xfrm>
          <a:custGeom>
            <a:avLst/>
            <a:gdLst/>
            <a:ahLst/>
            <a:cxnLst/>
            <a:rect l="l" t="t" r="r" b="b"/>
            <a:pathLst>
              <a:path w="466679" h="466679">
                <a:moveTo>
                  <a:pt x="100005" y="0"/>
                </a:moveTo>
                <a:lnTo>
                  <a:pt x="366675" y="0"/>
                </a:lnTo>
                <a:cubicBezTo>
                  <a:pt x="421906" y="0"/>
                  <a:pt x="466679" y="44774"/>
                  <a:pt x="466679" y="100005"/>
                </a:cubicBezTo>
                <a:lnTo>
                  <a:pt x="466679" y="366675"/>
                </a:lnTo>
                <a:cubicBezTo>
                  <a:pt x="466679" y="421906"/>
                  <a:pt x="421906" y="466679"/>
                  <a:pt x="366675" y="466679"/>
                </a:cubicBezTo>
                <a:lnTo>
                  <a:pt x="100005" y="466679"/>
                </a:lnTo>
                <a:cubicBezTo>
                  <a:pt x="44811" y="466679"/>
                  <a:pt x="0" y="421869"/>
                  <a:pt x="0" y="366675"/>
                </a:cubicBezTo>
                <a:lnTo>
                  <a:pt x="0" y="100005"/>
                </a:lnTo>
                <a:cubicBezTo>
                  <a:pt x="0" y="44811"/>
                  <a:pt x="44811" y="0"/>
                  <a:pt x="100005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89642" y="4072336"/>
            <a:ext cx="200005" cy="200005"/>
          </a:xfrm>
          <a:custGeom>
            <a:avLst/>
            <a:gdLst/>
            <a:ahLst/>
            <a:cxnLst/>
            <a:rect l="l" t="t" r="r" b="b"/>
            <a:pathLst>
              <a:path w="200005" h="200005">
                <a:moveTo>
                  <a:pt x="46876" y="21876"/>
                </a:moveTo>
                <a:cubicBezTo>
                  <a:pt x="46876" y="9805"/>
                  <a:pt x="56681" y="0"/>
                  <a:pt x="68752" y="0"/>
                </a:cubicBezTo>
                <a:lnTo>
                  <a:pt x="78127" y="0"/>
                </a:lnTo>
                <a:cubicBezTo>
                  <a:pt x="85041" y="0"/>
                  <a:pt x="90627" y="5586"/>
                  <a:pt x="90627" y="12500"/>
                </a:cubicBezTo>
                <a:lnTo>
                  <a:pt x="90627" y="187505"/>
                </a:lnTo>
                <a:cubicBezTo>
                  <a:pt x="90627" y="194419"/>
                  <a:pt x="85041" y="200005"/>
                  <a:pt x="78127" y="200005"/>
                </a:cubicBezTo>
                <a:lnTo>
                  <a:pt x="65627" y="200005"/>
                </a:lnTo>
                <a:cubicBezTo>
                  <a:pt x="53986" y="200005"/>
                  <a:pt x="44181" y="192037"/>
                  <a:pt x="41407" y="181255"/>
                </a:cubicBezTo>
                <a:cubicBezTo>
                  <a:pt x="41134" y="181255"/>
                  <a:pt x="40900" y="181255"/>
                  <a:pt x="40626" y="181255"/>
                </a:cubicBezTo>
                <a:cubicBezTo>
                  <a:pt x="23360" y="181255"/>
                  <a:pt x="9375" y="167270"/>
                  <a:pt x="9375" y="150004"/>
                </a:cubicBezTo>
                <a:cubicBezTo>
                  <a:pt x="9375" y="142973"/>
                  <a:pt x="11719" y="136488"/>
                  <a:pt x="15625" y="131254"/>
                </a:cubicBezTo>
                <a:cubicBezTo>
                  <a:pt x="8047" y="125550"/>
                  <a:pt x="3125" y="116488"/>
                  <a:pt x="3125" y="106253"/>
                </a:cubicBezTo>
                <a:cubicBezTo>
                  <a:pt x="3125" y="94182"/>
                  <a:pt x="10000" y="83674"/>
                  <a:pt x="20001" y="78479"/>
                </a:cubicBezTo>
                <a:cubicBezTo>
                  <a:pt x="17227" y="73791"/>
                  <a:pt x="15625" y="68322"/>
                  <a:pt x="15625" y="62502"/>
                </a:cubicBezTo>
                <a:cubicBezTo>
                  <a:pt x="15625" y="45236"/>
                  <a:pt x="29610" y="31251"/>
                  <a:pt x="46876" y="31251"/>
                </a:cubicBezTo>
                <a:lnTo>
                  <a:pt x="46876" y="21876"/>
                </a:lnTo>
                <a:close/>
                <a:moveTo>
                  <a:pt x="153129" y="21876"/>
                </a:moveTo>
                <a:lnTo>
                  <a:pt x="153129" y="31251"/>
                </a:lnTo>
                <a:cubicBezTo>
                  <a:pt x="170395" y="31251"/>
                  <a:pt x="184380" y="45236"/>
                  <a:pt x="184380" y="62502"/>
                </a:cubicBezTo>
                <a:cubicBezTo>
                  <a:pt x="184380" y="68361"/>
                  <a:pt x="182778" y="73830"/>
                  <a:pt x="180005" y="78479"/>
                </a:cubicBezTo>
                <a:cubicBezTo>
                  <a:pt x="190044" y="83674"/>
                  <a:pt x="196880" y="94143"/>
                  <a:pt x="196880" y="106253"/>
                </a:cubicBezTo>
                <a:cubicBezTo>
                  <a:pt x="196880" y="116488"/>
                  <a:pt x="191958" y="125550"/>
                  <a:pt x="184380" y="131254"/>
                </a:cubicBezTo>
                <a:cubicBezTo>
                  <a:pt x="188286" y="136488"/>
                  <a:pt x="190630" y="142973"/>
                  <a:pt x="190630" y="150004"/>
                </a:cubicBezTo>
                <a:cubicBezTo>
                  <a:pt x="190630" y="167270"/>
                  <a:pt x="176645" y="181255"/>
                  <a:pt x="159379" y="181255"/>
                </a:cubicBezTo>
                <a:cubicBezTo>
                  <a:pt x="159106" y="181255"/>
                  <a:pt x="158872" y="181255"/>
                  <a:pt x="158598" y="181255"/>
                </a:cubicBezTo>
                <a:cubicBezTo>
                  <a:pt x="155825" y="192037"/>
                  <a:pt x="146020" y="200005"/>
                  <a:pt x="134379" y="200005"/>
                </a:cubicBezTo>
                <a:lnTo>
                  <a:pt x="121878" y="200005"/>
                </a:lnTo>
                <a:cubicBezTo>
                  <a:pt x="114964" y="200005"/>
                  <a:pt x="109378" y="194419"/>
                  <a:pt x="109378" y="187505"/>
                </a:cubicBezTo>
                <a:lnTo>
                  <a:pt x="109378" y="12500"/>
                </a:lnTo>
                <a:cubicBezTo>
                  <a:pt x="109378" y="5586"/>
                  <a:pt x="114964" y="0"/>
                  <a:pt x="121878" y="0"/>
                </a:cubicBezTo>
                <a:lnTo>
                  <a:pt x="131254" y="0"/>
                </a:lnTo>
                <a:cubicBezTo>
                  <a:pt x="143324" y="0"/>
                  <a:pt x="153129" y="9805"/>
                  <a:pt x="153129" y="21876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49" name="Text 47"/>
          <p:cNvSpPr/>
          <p:nvPr/>
        </p:nvSpPr>
        <p:spPr>
          <a:xfrm>
            <a:off x="8956322" y="4055669"/>
            <a:ext cx="1675046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Anomaly Detection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56305" y="4539016"/>
            <a:ext cx="3366759" cy="65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models for proactive threat identification and pattern recognition. Automatic baseline establishment and deviation alerting.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56305" y="5325148"/>
            <a:ext cx="3300090" cy="5556"/>
          </a:xfrm>
          <a:custGeom>
            <a:avLst/>
            <a:gdLst/>
            <a:ahLst/>
            <a:cxnLst/>
            <a:rect l="l" t="t" r="r" b="b"/>
            <a:pathLst>
              <a:path w="3300090" h="5556">
                <a:moveTo>
                  <a:pt x="0" y="0"/>
                </a:moveTo>
                <a:lnTo>
                  <a:pt x="3300090" y="0"/>
                </a:lnTo>
                <a:lnTo>
                  <a:pt x="3300090" y="5556"/>
                </a:lnTo>
                <a:lnTo>
                  <a:pt x="0" y="5556"/>
                </a:lnTo>
                <a:lnTo>
                  <a:pt x="0" y="0"/>
                </a:ln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89639" y="5477929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55887" y="4531"/>
                </a:moveTo>
                <a:cubicBezTo>
                  <a:pt x="52632" y="1276"/>
                  <a:pt x="47345" y="1276"/>
                  <a:pt x="44090" y="4531"/>
                </a:cubicBezTo>
                <a:lnTo>
                  <a:pt x="2422" y="46199"/>
                </a:lnTo>
                <a:cubicBezTo>
                  <a:pt x="-833" y="49454"/>
                  <a:pt x="-833" y="54741"/>
                  <a:pt x="2422" y="57996"/>
                </a:cubicBezTo>
                <a:cubicBezTo>
                  <a:pt x="5677" y="61252"/>
                  <a:pt x="10964" y="61252"/>
                  <a:pt x="14219" y="57996"/>
                </a:cubicBezTo>
                <a:lnTo>
                  <a:pt x="41668" y="30548"/>
                </a:lnTo>
                <a:lnTo>
                  <a:pt x="41668" y="127087"/>
                </a:lnTo>
                <a:cubicBezTo>
                  <a:pt x="41668" y="131696"/>
                  <a:pt x="45392" y="135420"/>
                  <a:pt x="50001" y="135420"/>
                </a:cubicBezTo>
                <a:cubicBezTo>
                  <a:pt x="54611" y="135420"/>
                  <a:pt x="58335" y="131696"/>
                  <a:pt x="58335" y="127087"/>
                </a:cubicBezTo>
                <a:lnTo>
                  <a:pt x="58335" y="30548"/>
                </a:lnTo>
                <a:lnTo>
                  <a:pt x="85784" y="57996"/>
                </a:lnTo>
                <a:cubicBezTo>
                  <a:pt x="89039" y="61252"/>
                  <a:pt x="94325" y="61252"/>
                  <a:pt x="97581" y="57996"/>
                </a:cubicBezTo>
                <a:cubicBezTo>
                  <a:pt x="100836" y="54741"/>
                  <a:pt x="100836" y="49454"/>
                  <a:pt x="97581" y="46199"/>
                </a:cubicBezTo>
                <a:lnTo>
                  <a:pt x="55913" y="4531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53" name="Text 51"/>
          <p:cNvSpPr/>
          <p:nvPr/>
        </p:nvSpPr>
        <p:spPr>
          <a:xfrm>
            <a:off x="8589645" y="5461262"/>
            <a:ext cx="1133364" cy="16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9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monitoring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36120" y="5969608"/>
            <a:ext cx="11522537" cy="672241"/>
          </a:xfrm>
          <a:custGeom>
            <a:avLst/>
            <a:gdLst/>
            <a:ahLst/>
            <a:cxnLst/>
            <a:rect l="l" t="t" r="r" b="b"/>
            <a:pathLst>
              <a:path w="11522537" h="672241">
                <a:moveTo>
                  <a:pt x="66666" y="0"/>
                </a:moveTo>
                <a:lnTo>
                  <a:pt x="11455871" y="0"/>
                </a:lnTo>
                <a:cubicBezTo>
                  <a:pt x="11492690" y="0"/>
                  <a:pt x="11522537" y="29847"/>
                  <a:pt x="11522537" y="66666"/>
                </a:cubicBezTo>
                <a:lnTo>
                  <a:pt x="11522537" y="605575"/>
                </a:lnTo>
                <a:cubicBezTo>
                  <a:pt x="11522537" y="642393"/>
                  <a:pt x="11492690" y="672241"/>
                  <a:pt x="11455871" y="672241"/>
                </a:cubicBezTo>
                <a:lnTo>
                  <a:pt x="66666" y="672241"/>
                </a:lnTo>
                <a:cubicBezTo>
                  <a:pt x="29847" y="672241"/>
                  <a:pt x="0" y="642393"/>
                  <a:pt x="0" y="605575"/>
                </a:cubicBezTo>
                <a:lnTo>
                  <a:pt x="0" y="66666"/>
                </a:lnTo>
                <a:cubicBezTo>
                  <a:pt x="0" y="29847"/>
                  <a:pt x="29847" y="0"/>
                  <a:pt x="6666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8902" y="6133501"/>
            <a:ext cx="133337" cy="133337"/>
          </a:xfrm>
          <a:custGeom>
            <a:avLst/>
            <a:gdLst/>
            <a:ahLst/>
            <a:cxnLst/>
            <a:rect l="l" t="t" r="r" b="b"/>
            <a:pathLst>
              <a:path w="133337" h="133337">
                <a:moveTo>
                  <a:pt x="33334" y="83336"/>
                </a:moveTo>
                <a:lnTo>
                  <a:pt x="6380" y="83336"/>
                </a:lnTo>
                <a:cubicBezTo>
                  <a:pt x="-104" y="83336"/>
                  <a:pt x="-4089" y="76278"/>
                  <a:pt x="-755" y="70705"/>
                </a:cubicBezTo>
                <a:lnTo>
                  <a:pt x="13021" y="47736"/>
                </a:lnTo>
                <a:cubicBezTo>
                  <a:pt x="15287" y="43960"/>
                  <a:pt x="19349" y="41668"/>
                  <a:pt x="23751" y="41668"/>
                </a:cubicBezTo>
                <a:lnTo>
                  <a:pt x="48491" y="41668"/>
                </a:lnTo>
                <a:cubicBezTo>
                  <a:pt x="68309" y="8099"/>
                  <a:pt x="97867" y="6406"/>
                  <a:pt x="117633" y="9297"/>
                </a:cubicBezTo>
                <a:cubicBezTo>
                  <a:pt x="120967" y="9792"/>
                  <a:pt x="123571" y="12396"/>
                  <a:pt x="124040" y="15704"/>
                </a:cubicBezTo>
                <a:cubicBezTo>
                  <a:pt x="126931" y="35470"/>
                  <a:pt x="125238" y="65028"/>
                  <a:pt x="91669" y="84846"/>
                </a:cubicBezTo>
                <a:lnTo>
                  <a:pt x="91669" y="109586"/>
                </a:lnTo>
                <a:cubicBezTo>
                  <a:pt x="91669" y="113987"/>
                  <a:pt x="89377" y="118050"/>
                  <a:pt x="85601" y="120316"/>
                </a:cubicBezTo>
                <a:lnTo>
                  <a:pt x="62632" y="134092"/>
                </a:lnTo>
                <a:cubicBezTo>
                  <a:pt x="57085" y="137426"/>
                  <a:pt x="50001" y="133415"/>
                  <a:pt x="50001" y="126957"/>
                </a:cubicBezTo>
                <a:lnTo>
                  <a:pt x="50001" y="100003"/>
                </a:lnTo>
                <a:cubicBezTo>
                  <a:pt x="50001" y="90810"/>
                  <a:pt x="42527" y="83336"/>
                  <a:pt x="33334" y="83336"/>
                </a:cubicBezTo>
                <a:lnTo>
                  <a:pt x="33308" y="83336"/>
                </a:lnTo>
                <a:close/>
                <a:moveTo>
                  <a:pt x="104170" y="41668"/>
                </a:moveTo>
                <a:cubicBezTo>
                  <a:pt x="104170" y="34769"/>
                  <a:pt x="98568" y="29167"/>
                  <a:pt x="91669" y="29167"/>
                </a:cubicBezTo>
                <a:cubicBezTo>
                  <a:pt x="84770" y="29167"/>
                  <a:pt x="79169" y="34769"/>
                  <a:pt x="79169" y="41668"/>
                </a:cubicBezTo>
                <a:cubicBezTo>
                  <a:pt x="79169" y="48567"/>
                  <a:pt x="84770" y="54168"/>
                  <a:pt x="91669" y="54168"/>
                </a:cubicBezTo>
                <a:cubicBezTo>
                  <a:pt x="98568" y="54168"/>
                  <a:pt x="104170" y="48567"/>
                  <a:pt x="104170" y="41668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56" name="Text 54"/>
          <p:cNvSpPr/>
          <p:nvPr/>
        </p:nvSpPr>
        <p:spPr>
          <a:xfrm>
            <a:off x="682653" y="6105725"/>
            <a:ext cx="11106558" cy="400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 Path:</a:t>
            </a:r>
            <a:r>
              <a:rPr lang="en-US" sz="105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the current implementation demonstrates efficient log processing, the system can evolve into a full security analytics platform with advanced search and distributed processing capabilities.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dcd1899dc8d08bdc7f0cf77791bdc5c25ede5dd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21574" r="2157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DB6A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384175"/>
            <a:ext cx="1330325" cy="387350"/>
          </a:xfrm>
          <a:custGeom>
            <a:avLst/>
            <a:gdLst/>
            <a:ahLst/>
            <a:cxnLst/>
            <a:rect l="l" t="t" r="r" b="b"/>
            <a:pathLst>
              <a:path w="1330325" h="387350">
                <a:moveTo>
                  <a:pt x="76199" y="0"/>
                </a:moveTo>
                <a:lnTo>
                  <a:pt x="1254126" y="0"/>
                </a:lnTo>
                <a:cubicBezTo>
                  <a:pt x="1296209" y="0"/>
                  <a:pt x="1330325" y="34116"/>
                  <a:pt x="1330325" y="76199"/>
                </a:cubicBezTo>
                <a:lnTo>
                  <a:pt x="1330325" y="311151"/>
                </a:lnTo>
                <a:cubicBezTo>
                  <a:pt x="1330325" y="353234"/>
                  <a:pt x="1296209" y="387350"/>
                  <a:pt x="1254126" y="387350"/>
                </a:cubicBezTo>
                <a:lnTo>
                  <a:pt x="76199" y="387350"/>
                </a:lnTo>
                <a:cubicBezTo>
                  <a:pt x="34144" y="387350"/>
                  <a:pt x="0" y="353206"/>
                  <a:pt x="0" y="3111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750" y="495300"/>
            <a:ext cx="109765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9271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Why Rope Was the Right Choice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49860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1765302"/>
            <a:ext cx="5543550" cy="1143000"/>
          </a:xfrm>
          <a:custGeom>
            <a:avLst/>
            <a:gdLst/>
            <a:ahLst/>
            <a:cxnLst/>
            <a:rect l="l" t="t" r="r" b="b"/>
            <a:pathLst>
              <a:path w="5543550" h="1143000">
                <a:moveTo>
                  <a:pt x="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66796"/>
                </a:lnTo>
                <a:cubicBezTo>
                  <a:pt x="5543550" y="1108882"/>
                  <a:pt x="5509432" y="1143000"/>
                  <a:pt x="54673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5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1765302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9177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04850" y="20510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9"/>
          <p:cNvSpPr/>
          <p:nvPr/>
        </p:nvSpPr>
        <p:spPr>
          <a:xfrm>
            <a:off x="1181100" y="191770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Large-Scale Handling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1100" y="226060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Tree-based architecture enables efficient processing of massive log datasets without performance degradation.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00050" y="3060702"/>
            <a:ext cx="5543550" cy="1143000"/>
          </a:xfrm>
          <a:custGeom>
            <a:avLst/>
            <a:gdLst/>
            <a:ahLst/>
            <a:cxnLst/>
            <a:rect l="l" t="t" r="r" b="b"/>
            <a:pathLst>
              <a:path w="5543550" h="1143000">
                <a:moveTo>
                  <a:pt x="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66796"/>
                </a:lnTo>
                <a:cubicBezTo>
                  <a:pt x="5543550" y="1108882"/>
                  <a:pt x="5509432" y="1143000"/>
                  <a:pt x="54673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5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00050" y="3060702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32131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04850" y="33464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5"/>
          <p:cNvSpPr/>
          <p:nvPr/>
        </p:nvSpPr>
        <p:spPr>
          <a:xfrm>
            <a:off x="1181100" y="321310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Memory Overhead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1100" y="3556002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Fragmented storage eliminates contiguous memory requirements and reduces allocation overhead.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4356102"/>
            <a:ext cx="5543550" cy="1152525"/>
          </a:xfrm>
          <a:custGeom>
            <a:avLst/>
            <a:gdLst/>
            <a:ahLst/>
            <a:cxnLst/>
            <a:rect l="l" t="t" r="r" b="b"/>
            <a:pathLst>
              <a:path w="5543550" h="1152525">
                <a:moveTo>
                  <a:pt x="0" y="0"/>
                </a:moveTo>
                <a:lnTo>
                  <a:pt x="5467345" y="0"/>
                </a:lnTo>
                <a:cubicBezTo>
                  <a:pt x="5509432" y="0"/>
                  <a:pt x="5543550" y="34118"/>
                  <a:pt x="5543550" y="76205"/>
                </a:cubicBezTo>
                <a:lnTo>
                  <a:pt x="5543550" y="1076320"/>
                </a:lnTo>
                <a:cubicBezTo>
                  <a:pt x="5543550" y="1118407"/>
                  <a:pt x="5509432" y="1152525"/>
                  <a:pt x="5467345" y="1152525"/>
                </a:cubicBez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5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00050" y="4356102"/>
            <a:ext cx="38100" cy="1152525"/>
          </a:xfrm>
          <a:custGeom>
            <a:avLst/>
            <a:gdLst/>
            <a:ahLst/>
            <a:cxnLst/>
            <a:rect l="l" t="t" r="r" b="b"/>
            <a:pathLst>
              <a:path w="38100" h="1152525">
                <a:moveTo>
                  <a:pt x="0" y="0"/>
                </a:moveTo>
                <a:lnTo>
                  <a:pt x="38100" y="0"/>
                </a:lnTo>
                <a:lnTo>
                  <a:pt x="38100" y="1152525"/>
                </a:lnTo>
                <a:lnTo>
                  <a:pt x="0" y="1152525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" y="45085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04850" y="46418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1"/>
          <p:cNvSpPr/>
          <p:nvPr/>
        </p:nvSpPr>
        <p:spPr>
          <a:xfrm>
            <a:off x="1181100" y="4508502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Editing &amp; Retrieval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81100" y="4851402"/>
            <a:ext cx="46863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O(log N) </a:t>
            </a: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operations provide consistent performance regardless of data size.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0050" y="5657850"/>
            <a:ext cx="5543550" cy="1143000"/>
          </a:xfrm>
          <a:custGeom>
            <a:avLst/>
            <a:gdLst/>
            <a:ahLst/>
            <a:cxnLst/>
            <a:rect l="l" t="t" r="r" b="b"/>
            <a:pathLst>
              <a:path w="5543550" h="1143000">
                <a:moveTo>
                  <a:pt x="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66796"/>
                </a:lnTo>
                <a:cubicBezTo>
                  <a:pt x="5543550" y="1108882"/>
                  <a:pt x="5509432" y="1143000"/>
                  <a:pt x="5467346" y="1143000"/>
                </a:cubicBez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>
              <a:alpha val="50196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00050" y="56578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5810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CA28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04850" y="5943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CA28"/>
          </a:solidFill>
          <a:ln/>
        </p:spPr>
      </p:sp>
      <p:sp>
        <p:nvSpPr>
          <p:cNvPr id="30" name="Text 27"/>
          <p:cNvSpPr/>
          <p:nvPr/>
        </p:nvSpPr>
        <p:spPr>
          <a:xfrm>
            <a:off x="1181100" y="581025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CA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Forensic-Ready Archiving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81100" y="6153150"/>
            <a:ext cx="4686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deletion tracking and audit trails make the system suitable for compliance and forensic analysis.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57925" y="2118522"/>
            <a:ext cx="5543550" cy="3381375"/>
          </a:xfrm>
          <a:custGeom>
            <a:avLst/>
            <a:gdLst/>
            <a:ahLst/>
            <a:cxnLst/>
            <a:rect l="l" t="t" r="r" b="b"/>
            <a:pathLst>
              <a:path w="5543550" h="3381375">
                <a:moveTo>
                  <a:pt x="114290" y="0"/>
                </a:moveTo>
                <a:lnTo>
                  <a:pt x="5429260" y="0"/>
                </a:lnTo>
                <a:cubicBezTo>
                  <a:pt x="5492380" y="0"/>
                  <a:pt x="5543550" y="51170"/>
                  <a:pt x="5543550" y="114290"/>
                </a:cubicBezTo>
                <a:lnTo>
                  <a:pt x="5543550" y="3267085"/>
                </a:lnTo>
                <a:cubicBezTo>
                  <a:pt x="5543550" y="3330205"/>
                  <a:pt x="5492380" y="3381375"/>
                  <a:pt x="5429260" y="3381375"/>
                </a:cubicBezTo>
                <a:lnTo>
                  <a:pt x="114290" y="3381375"/>
                </a:lnTo>
                <a:cubicBezTo>
                  <a:pt x="51170" y="3381375"/>
                  <a:pt x="0" y="3330205"/>
                  <a:pt x="0" y="326708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25400">
            <a:solidFill>
              <a:srgbClr val="4DB6A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07066" y="243284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Text 31"/>
          <p:cNvSpPr/>
          <p:nvPr/>
        </p:nvSpPr>
        <p:spPr>
          <a:xfrm>
            <a:off x="6500813" y="2870997"/>
            <a:ext cx="50577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Message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515100" y="3456784"/>
            <a:ext cx="50292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Rope data structures provide a </a:t>
            </a:r>
            <a:r>
              <a:rPr lang="en-US" sz="18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</a:t>
            </a: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8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</a:t>
            </a:r>
            <a:r>
              <a:rPr lang="en-US" sz="1800" b="1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 for high-performance log processing systems.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771779" y="4799809"/>
            <a:ext cx="1333500" cy="381000"/>
          </a:xfrm>
          <a:custGeom>
            <a:avLst/>
            <a:gdLst/>
            <a:ahLst/>
            <a:cxnLst/>
            <a:rect l="l" t="t" r="r" b="b"/>
            <a:pathLst>
              <a:path w="1333500" h="381000">
                <a:moveTo>
                  <a:pt x="76200" y="0"/>
                </a:moveTo>
                <a:lnTo>
                  <a:pt x="1257300" y="0"/>
                </a:lnTo>
                <a:cubicBezTo>
                  <a:pt x="1299356" y="0"/>
                  <a:pt x="1333500" y="34144"/>
                  <a:pt x="1333500" y="76200"/>
                </a:cubicBezTo>
                <a:lnTo>
                  <a:pt x="1333500" y="304800"/>
                </a:lnTo>
                <a:cubicBezTo>
                  <a:pt x="1333500" y="346856"/>
                  <a:pt x="1299356" y="381000"/>
                  <a:pt x="12573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952754" y="491410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-9525"/>
                </a:moveTo>
                <a:cubicBezTo>
                  <a:pt x="68759" y="-9525"/>
                  <a:pt x="70753" y="-8602"/>
                  <a:pt x="72122" y="-6995"/>
                </a:cubicBezTo>
                <a:lnTo>
                  <a:pt x="112603" y="40630"/>
                </a:lnTo>
                <a:cubicBezTo>
                  <a:pt x="114419" y="42743"/>
                  <a:pt x="114806" y="45720"/>
                  <a:pt x="113645" y="48250"/>
                </a:cubicBezTo>
                <a:cubicBezTo>
                  <a:pt x="112484" y="50780"/>
                  <a:pt x="109954" y="52388"/>
                  <a:pt x="107156" y="52388"/>
                </a:cubicBezTo>
                <a:lnTo>
                  <a:pt x="99745" y="52388"/>
                </a:lnTo>
                <a:lnTo>
                  <a:pt x="122128" y="78730"/>
                </a:lnTo>
                <a:cubicBezTo>
                  <a:pt x="123944" y="80843"/>
                  <a:pt x="124331" y="83820"/>
                  <a:pt x="123170" y="86350"/>
                </a:cubicBezTo>
                <a:cubicBezTo>
                  <a:pt x="122009" y="88880"/>
                  <a:pt x="119479" y="90488"/>
                  <a:pt x="116681" y="90488"/>
                </a:cubicBezTo>
                <a:lnTo>
                  <a:pt x="105221" y="90488"/>
                </a:lnTo>
                <a:lnTo>
                  <a:pt x="131653" y="121593"/>
                </a:lnTo>
                <a:cubicBezTo>
                  <a:pt x="133469" y="123706"/>
                  <a:pt x="133856" y="126683"/>
                  <a:pt x="132695" y="129213"/>
                </a:cubicBezTo>
                <a:cubicBezTo>
                  <a:pt x="131534" y="131743"/>
                  <a:pt x="129004" y="133350"/>
                  <a:pt x="126206" y="133350"/>
                </a:cubicBezTo>
                <a:lnTo>
                  <a:pt x="76200" y="133350"/>
                </a:lnTo>
                <a:lnTo>
                  <a:pt x="76200" y="152400"/>
                </a:lnTo>
                <a:cubicBezTo>
                  <a:pt x="76200" y="157669"/>
                  <a:pt x="71944" y="161925"/>
                  <a:pt x="66675" y="161925"/>
                </a:cubicBezTo>
                <a:cubicBezTo>
                  <a:pt x="61406" y="161925"/>
                  <a:pt x="57150" y="157669"/>
                  <a:pt x="57150" y="152400"/>
                </a:cubicBezTo>
                <a:lnTo>
                  <a:pt x="57150" y="133350"/>
                </a:lnTo>
                <a:lnTo>
                  <a:pt x="7144" y="133350"/>
                </a:lnTo>
                <a:cubicBezTo>
                  <a:pt x="4346" y="133350"/>
                  <a:pt x="1816" y="131743"/>
                  <a:pt x="655" y="129213"/>
                </a:cubicBezTo>
                <a:cubicBezTo>
                  <a:pt x="-506" y="126683"/>
                  <a:pt x="-119" y="123706"/>
                  <a:pt x="1697" y="121593"/>
                </a:cubicBezTo>
                <a:lnTo>
                  <a:pt x="28129" y="90488"/>
                </a:lnTo>
                <a:lnTo>
                  <a:pt x="16669" y="90488"/>
                </a:lnTo>
                <a:cubicBezTo>
                  <a:pt x="13871" y="90488"/>
                  <a:pt x="11341" y="88880"/>
                  <a:pt x="10180" y="86350"/>
                </a:cubicBezTo>
                <a:cubicBezTo>
                  <a:pt x="9019" y="83820"/>
                  <a:pt x="9406" y="80843"/>
                  <a:pt x="11222" y="78730"/>
                </a:cubicBezTo>
                <a:lnTo>
                  <a:pt x="33605" y="52388"/>
                </a:lnTo>
                <a:lnTo>
                  <a:pt x="26194" y="52388"/>
                </a:lnTo>
                <a:cubicBezTo>
                  <a:pt x="23396" y="52388"/>
                  <a:pt x="20866" y="50780"/>
                  <a:pt x="19705" y="48250"/>
                </a:cubicBezTo>
                <a:cubicBezTo>
                  <a:pt x="18544" y="45720"/>
                  <a:pt x="18931" y="42743"/>
                  <a:pt x="20747" y="40630"/>
                </a:cubicBezTo>
                <a:lnTo>
                  <a:pt x="61228" y="-6995"/>
                </a:lnTo>
                <a:cubicBezTo>
                  <a:pt x="62597" y="-8602"/>
                  <a:pt x="64591" y="-9525"/>
                  <a:pt x="66675" y="-95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5"/>
          <p:cNvSpPr/>
          <p:nvPr/>
        </p:nvSpPr>
        <p:spPr>
          <a:xfrm>
            <a:off x="7190879" y="4876009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Tree-Based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257679" y="4799809"/>
            <a:ext cx="1752600" cy="381000"/>
          </a:xfrm>
          <a:custGeom>
            <a:avLst/>
            <a:gdLst/>
            <a:ahLst/>
            <a:cxnLst/>
            <a:rect l="l" t="t" r="r" b="b"/>
            <a:pathLst>
              <a:path w="1752600" h="381000">
                <a:moveTo>
                  <a:pt x="76200" y="0"/>
                </a:moveTo>
                <a:lnTo>
                  <a:pt x="1676400" y="0"/>
                </a:lnTo>
                <a:cubicBezTo>
                  <a:pt x="1718456" y="0"/>
                  <a:pt x="1752600" y="34144"/>
                  <a:pt x="1752600" y="76200"/>
                </a:cubicBezTo>
                <a:lnTo>
                  <a:pt x="1752600" y="304800"/>
                </a:lnTo>
                <a:cubicBezTo>
                  <a:pt x="1752600" y="346856"/>
                  <a:pt x="1718456" y="381000"/>
                  <a:pt x="16764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8429129" y="491410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8"/>
          <p:cNvSpPr/>
          <p:nvPr/>
        </p:nvSpPr>
        <p:spPr>
          <a:xfrm>
            <a:off x="8676779" y="4876009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165160" y="4799809"/>
            <a:ext cx="1123950" cy="381000"/>
          </a:xfrm>
          <a:custGeom>
            <a:avLst/>
            <a:gdLst/>
            <a:ahLst/>
            <a:cxnLst/>
            <a:rect l="l" t="t" r="r" b="b"/>
            <a:pathLst>
              <a:path w="1123950" h="381000">
                <a:moveTo>
                  <a:pt x="76200" y="0"/>
                </a:moveTo>
                <a:lnTo>
                  <a:pt x="1047750" y="0"/>
                </a:lnTo>
                <a:cubicBezTo>
                  <a:pt x="1089806" y="0"/>
                  <a:pt x="1123950" y="34144"/>
                  <a:pt x="1123950" y="76200"/>
                </a:cubicBezTo>
                <a:lnTo>
                  <a:pt x="1123950" y="304800"/>
                </a:lnTo>
                <a:cubicBezTo>
                  <a:pt x="1123950" y="346856"/>
                  <a:pt x="1089806" y="381000"/>
                  <a:pt x="104775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0346135" y="491410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0006" y="9525"/>
                </a:moveTo>
                <a:lnTo>
                  <a:pt x="7144" y="9525"/>
                </a:lnTo>
                <a:cubicBezTo>
                  <a:pt x="3185" y="9525"/>
                  <a:pt x="0" y="12710"/>
                  <a:pt x="0" y="16669"/>
                </a:cubicBezTo>
                <a:lnTo>
                  <a:pt x="0" y="59531"/>
                </a:lnTo>
                <a:cubicBezTo>
                  <a:pt x="0" y="62419"/>
                  <a:pt x="1726" y="65038"/>
                  <a:pt x="4405" y="66139"/>
                </a:cubicBezTo>
                <a:cubicBezTo>
                  <a:pt x="7084" y="67241"/>
                  <a:pt x="10150" y="66615"/>
                  <a:pt x="12204" y="64591"/>
                </a:cubicBezTo>
                <a:lnTo>
                  <a:pt x="24110" y="52685"/>
                </a:lnTo>
                <a:lnTo>
                  <a:pt x="47625" y="76200"/>
                </a:lnTo>
                <a:lnTo>
                  <a:pt x="24110" y="99715"/>
                </a:lnTo>
                <a:lnTo>
                  <a:pt x="12204" y="87809"/>
                </a:lnTo>
                <a:cubicBezTo>
                  <a:pt x="10150" y="85755"/>
                  <a:pt x="7084" y="85159"/>
                  <a:pt x="4405" y="86261"/>
                </a:cubicBezTo>
                <a:cubicBezTo>
                  <a:pt x="1726" y="87362"/>
                  <a:pt x="0" y="89981"/>
                  <a:pt x="0" y="92869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lnTo>
                  <a:pt x="50006" y="142875"/>
                </a:lnTo>
                <a:cubicBezTo>
                  <a:pt x="52894" y="142875"/>
                  <a:pt x="55513" y="141149"/>
                  <a:pt x="56614" y="138470"/>
                </a:cubicBezTo>
                <a:cubicBezTo>
                  <a:pt x="57716" y="135791"/>
                  <a:pt x="57120" y="132725"/>
                  <a:pt x="55066" y="130671"/>
                </a:cubicBezTo>
                <a:lnTo>
                  <a:pt x="43160" y="118765"/>
                </a:lnTo>
                <a:lnTo>
                  <a:pt x="66675" y="95250"/>
                </a:lnTo>
                <a:lnTo>
                  <a:pt x="90190" y="118765"/>
                </a:lnTo>
                <a:lnTo>
                  <a:pt x="78284" y="130671"/>
                </a:lnTo>
                <a:cubicBezTo>
                  <a:pt x="76230" y="132725"/>
                  <a:pt x="75634" y="135791"/>
                  <a:pt x="76736" y="138470"/>
                </a:cubicBezTo>
                <a:cubicBezTo>
                  <a:pt x="77837" y="141149"/>
                  <a:pt x="80456" y="142875"/>
                  <a:pt x="83344" y="142875"/>
                </a:cubicBezTo>
                <a:lnTo>
                  <a:pt x="126206" y="142875"/>
                </a:lnTo>
                <a:cubicBezTo>
                  <a:pt x="130165" y="142875"/>
                  <a:pt x="133350" y="139690"/>
                  <a:pt x="133350" y="135731"/>
                </a:cubicBezTo>
                <a:lnTo>
                  <a:pt x="133350" y="92869"/>
                </a:lnTo>
                <a:cubicBezTo>
                  <a:pt x="133350" y="89981"/>
                  <a:pt x="131624" y="87362"/>
                  <a:pt x="128945" y="86261"/>
                </a:cubicBezTo>
                <a:cubicBezTo>
                  <a:pt x="126266" y="85159"/>
                  <a:pt x="123200" y="85755"/>
                  <a:pt x="121146" y="87809"/>
                </a:cubicBezTo>
                <a:lnTo>
                  <a:pt x="109240" y="99715"/>
                </a:lnTo>
                <a:lnTo>
                  <a:pt x="85725" y="76200"/>
                </a:lnTo>
                <a:lnTo>
                  <a:pt x="109240" y="52685"/>
                </a:lnTo>
                <a:lnTo>
                  <a:pt x="121146" y="64591"/>
                </a:lnTo>
                <a:cubicBezTo>
                  <a:pt x="123200" y="66645"/>
                  <a:pt x="126266" y="67241"/>
                  <a:pt x="128945" y="66139"/>
                </a:cubicBezTo>
                <a:cubicBezTo>
                  <a:pt x="131624" y="65038"/>
                  <a:pt x="133350" y="62419"/>
                  <a:pt x="133350" y="59531"/>
                </a:cubicBezTo>
                <a:lnTo>
                  <a:pt x="133350" y="16669"/>
                </a:lnTo>
                <a:cubicBezTo>
                  <a:pt x="133350" y="12710"/>
                  <a:pt x="130165" y="9525"/>
                  <a:pt x="126206" y="9525"/>
                </a:cubicBezTo>
                <a:lnTo>
                  <a:pt x="83344" y="9525"/>
                </a:lnTo>
                <a:cubicBezTo>
                  <a:pt x="80456" y="9525"/>
                  <a:pt x="77837" y="11251"/>
                  <a:pt x="76736" y="13930"/>
                </a:cubicBezTo>
                <a:cubicBezTo>
                  <a:pt x="75634" y="16609"/>
                  <a:pt x="76260" y="19675"/>
                  <a:pt x="78284" y="21729"/>
                </a:cubicBezTo>
                <a:lnTo>
                  <a:pt x="90190" y="33635"/>
                </a:lnTo>
                <a:lnTo>
                  <a:pt x="66675" y="57150"/>
                </a:lnTo>
                <a:lnTo>
                  <a:pt x="43160" y="33635"/>
                </a:lnTo>
                <a:lnTo>
                  <a:pt x="55066" y="21729"/>
                </a:lnTo>
                <a:cubicBezTo>
                  <a:pt x="57120" y="19675"/>
                  <a:pt x="57716" y="16609"/>
                  <a:pt x="56614" y="13930"/>
                </a:cubicBezTo>
                <a:cubicBezTo>
                  <a:pt x="55513" y="11251"/>
                  <a:pt x="52894" y="9525"/>
                  <a:pt x="50006" y="95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4" name="Text 41"/>
          <p:cNvSpPr/>
          <p:nvPr/>
        </p:nvSpPr>
        <p:spPr>
          <a:xfrm>
            <a:off x="10584260" y="4876009"/>
            <a:ext cx="62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200775" y="5733259"/>
            <a:ext cx="565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5F6B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162675" y="6076159"/>
            <a:ext cx="5734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C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OM3N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1135</Words>
  <Application>Microsoft Office PowerPoint</Application>
  <PresentationFormat>Widescreen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Noto Sans SC</vt:lpstr>
      <vt:lpstr>Arial</vt:lpstr>
      <vt:lpstr>Liter</vt:lpstr>
      <vt:lpstr>微软雅黑</vt:lpstr>
      <vt:lpstr>Quattrocento Sans</vt:lpstr>
      <vt:lpstr>Hedvig Letters Sans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Log Processing and Forensic Archiving System Using Rope Data Structures</dc:title>
  <dc:subject>Scalable Log Processing and Forensic Archiving System Using Rope Data Structures</dc:subject>
  <dc:creator>Kimi</dc:creator>
  <cp:lastModifiedBy>Priyan K M</cp:lastModifiedBy>
  <cp:revision>3</cp:revision>
  <dcterms:created xsi:type="dcterms:W3CDTF">2026-03-29T15:28:26Z</dcterms:created>
  <dcterms:modified xsi:type="dcterms:W3CDTF">2026-03-29T15:42:20Z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{"Label":"Scalable Log Processing and Forensic Archiving System Using Rope Data Structures","ContentProducer":"001191110108MACG2KBH8F10000","ProduceID":"19d3a318-cfb2-8252-8000-000033163e48","ReservedCode1":"","ContentPropagator":"001191110108MACG2KBH8F20000","PropagateID":"19d3a318-cfb2-8252-8000-000033163e48","ReservedCode2":""}</vt:lpwstr>
  </property>
</Properties>
</file>